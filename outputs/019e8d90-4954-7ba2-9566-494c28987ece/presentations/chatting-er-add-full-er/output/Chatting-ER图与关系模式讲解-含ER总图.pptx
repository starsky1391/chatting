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2c9a2969a411f" /><Relationship Type="http://schemas.openxmlformats.org/officeDocument/2006/relationships/extended-properties" Target="/docProps/app.xml" Id="Rf421fec8e0074cc6" /><Relationship Type="http://schemas.openxmlformats.org/officeDocument/2006/relationships/officeDocument" Target="/ppt/presentation.xml" Id="Rc676b09cd5a544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b483664734c6a"/>
  </p:sldMasterIdLst>
  <p:notesMasterIdLst>
    <p:notesMasterId xmlns:r="http://schemas.openxmlformats.org/officeDocument/2006/relationships" r:id="Rd57ef6e21b3349ab"/>
  </p:notesMasterIdLst>
  <p:sldIdLst>
    <p:sldId xmlns:r="http://schemas.openxmlformats.org/officeDocument/2006/relationships" id="256" r:id="R5a7e934e2a114bb9"/>
    <p:sldId xmlns:r="http://schemas.openxmlformats.org/officeDocument/2006/relationships" id="257" r:id="R38073b86d93f454f"/>
    <p:sldId xmlns:r="http://schemas.openxmlformats.org/officeDocument/2006/relationships" id="258" r:id="R5924463d519c4a2e"/>
    <p:sldId xmlns:r="http://schemas.openxmlformats.org/officeDocument/2006/relationships" id="259" r:id="R51b220f98031478a"/>
    <p:sldId xmlns:r="http://schemas.openxmlformats.org/officeDocument/2006/relationships" id="260" r:id="R368c9b0441c74fcc"/>
    <p:sldId xmlns:r="http://schemas.openxmlformats.org/officeDocument/2006/relationships" id="261" r:id="R3be98b5c375c4a38"/>
    <p:sldId xmlns:r="http://schemas.openxmlformats.org/officeDocument/2006/relationships" id="262" r:id="R298a1eb437144376"/>
    <p:sldId xmlns:r="http://schemas.openxmlformats.org/officeDocument/2006/relationships" id="263" r:id="R39b2229af18e4eb4"/>
    <p:sldId xmlns:r="http://schemas.openxmlformats.org/officeDocument/2006/relationships" id="264" r:id="R91aad7e7b1cc4b01"/>
    <p:sldId xmlns:r="http://schemas.openxmlformats.org/officeDocument/2006/relationships" id="265" r:id="Rded400f710204261"/>
    <p:sldId xmlns:r="http://schemas.openxmlformats.org/officeDocument/2006/relationships" id="266" r:id="Rb7eef8b1db8d40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38e1ccd1024e92" /><Relationship Type="http://schemas.openxmlformats.org/officeDocument/2006/relationships/slideMaster" Target="/ppt/slideMasters/slideMaster1.xml" Id="R9c7b483664734c6a" /><Relationship Type="http://schemas.openxmlformats.org/officeDocument/2006/relationships/notesMaster" Target="/ppt/notesMasters/notesMaster1.xml" Id="Rd57ef6e21b3349ab" /><Relationship Type="http://schemas.openxmlformats.org/officeDocument/2006/relationships/presProps" Target="/ppt/presProps.xml" Id="R0853d5b596614a02" /><Relationship Type="http://schemas.openxmlformats.org/officeDocument/2006/relationships/viewProps" Target="/ppt/viewProps.xml" Id="R9269cb98c0a7478c" /><Relationship Type="http://schemas.openxmlformats.org/officeDocument/2006/relationships/tableStyles" Target="/ppt/tableStyles.xml" Id="R1a30516b60fa4348" /><Relationship Type="http://schemas.openxmlformats.org/officeDocument/2006/relationships/slide" Target="/ppt/slides/slide1.xml" Id="R5a7e934e2a114bb9" /><Relationship Type="http://schemas.openxmlformats.org/officeDocument/2006/relationships/slide" Target="/ppt/slides/slide2.xml" Id="R38073b86d93f454f" /><Relationship Type="http://schemas.openxmlformats.org/officeDocument/2006/relationships/slide" Target="/ppt/slides/slide3.xml" Id="R5924463d519c4a2e" /><Relationship Type="http://schemas.openxmlformats.org/officeDocument/2006/relationships/slide" Target="/ppt/slides/slide4.xml" Id="R51b220f98031478a" /><Relationship Type="http://schemas.openxmlformats.org/officeDocument/2006/relationships/slide" Target="/ppt/slides/slide5.xml" Id="R368c9b0441c74fcc" /><Relationship Type="http://schemas.openxmlformats.org/officeDocument/2006/relationships/slide" Target="/ppt/slides/slide6.xml" Id="R3be98b5c375c4a38" /><Relationship Type="http://schemas.openxmlformats.org/officeDocument/2006/relationships/slide" Target="/ppt/slides/slide7.xml" Id="R298a1eb437144376" /><Relationship Type="http://schemas.openxmlformats.org/officeDocument/2006/relationships/slide" Target="/ppt/slides/slide8.xml" Id="R39b2229af18e4eb4" /><Relationship Type="http://schemas.openxmlformats.org/officeDocument/2006/relationships/slide" Target="/ppt/slides/slide9.xml" Id="R91aad7e7b1cc4b01" /><Relationship Type="http://schemas.openxmlformats.org/officeDocument/2006/relationships/slide" Target="/ppt/slides/slide10.xml" Id="Rded400f710204261" /><Relationship Type="http://schemas.openxmlformats.org/officeDocument/2006/relationships/slide" Target="/ppt/slides/slide11.xml" Id="Rb7eef8b1db8d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3acce5db445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a2354699284e40" /><Relationship Type="http://schemas.openxmlformats.org/officeDocument/2006/relationships/notesMaster" Target="/ppt/notesMasters/notesMaster1.xml" Id="R5dbbb3c507e64a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aede4a3f49425b" /><Relationship Type="http://schemas.openxmlformats.org/officeDocument/2006/relationships/notesMaster" Target="/ppt/notesMasters/notesMaster1.xml" Id="Rc1838d4d244148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91ee18c474a8e" /><Relationship Type="http://schemas.openxmlformats.org/officeDocument/2006/relationships/notesMaster" Target="/ppt/notesMasters/notesMaster1.xml" Id="R073e4d9754094b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277ad99dc4812" /><Relationship Type="http://schemas.openxmlformats.org/officeDocument/2006/relationships/notesMaster" Target="/ppt/notesMasters/notesMaster1.xml" Id="Rf1e0ee2a756c43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cf6d8bfa954734" /><Relationship Type="http://schemas.openxmlformats.org/officeDocument/2006/relationships/notesMaster" Target="/ppt/notesMasters/notesMaster1.xml" Id="R0de8bdd66b17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791d82c71d41ca" /><Relationship Type="http://schemas.openxmlformats.org/officeDocument/2006/relationships/notesMaster" Target="/ppt/notesMasters/notesMaster1.xml" Id="R031cf3fe09e1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6a2cba71b447e6" /><Relationship Type="http://schemas.openxmlformats.org/officeDocument/2006/relationships/notesMaster" Target="/ppt/notesMasters/notesMaster1.xml" Id="Ref72f3314ae746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cd1a4297ac49b4" /><Relationship Type="http://schemas.openxmlformats.org/officeDocument/2006/relationships/notesMaster" Target="/ppt/notesMasters/notesMaster1.xml" Id="R5cc8e2f6682642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f3bc4dc6c94553" /><Relationship Type="http://schemas.openxmlformats.org/officeDocument/2006/relationships/notesMaster" Target="/ppt/notesMasters/notesMaster1.xml" Id="Rf3778ee4653f40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326ee2bbef456a" /><Relationship Type="http://schemas.openxmlformats.org/officeDocument/2006/relationships/notesMaster" Target="/ppt/notesMasters/notesMaster1.xml" Id="Ra5f72fe532f543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93ab41b94a4213" /><Relationship Type="http://schemas.openxmlformats.org/officeDocument/2006/relationships/notesMaster" Target="/ppt/notesMasters/notesMaster1.xml" Id="R45a3f3ed668d4d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3769640ca40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d90512c217492c" /><Relationship Type="http://schemas.openxmlformats.org/officeDocument/2006/relationships/slideLayout" Target="/ppt/slideLayouts/slideLayout1.xml" Id="Rb501eddaf8cb4f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1eddaf8cb4f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f9addae2645bb" /><Relationship Type="http://schemas.openxmlformats.org/officeDocument/2006/relationships/notesSlide" Target="/ppt/notesSlides/notesSlide1.xml" Id="R2c96cb3572e7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7fc358a254d47" /><Relationship Type="http://schemas.openxmlformats.org/officeDocument/2006/relationships/notesSlide" Target="/ppt/notesSlides/notesSlide2.xml" Id="R5ac0bb0255af45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cb5130e5467b" /><Relationship Type="http://schemas.openxmlformats.org/officeDocument/2006/relationships/notesSlide" Target="/ppt/notesSlides/notesSlide3.xml" Id="R6e5e2989cde646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45818626c4df4" /><Relationship Type="http://schemas.openxmlformats.org/officeDocument/2006/relationships/notesSlide" Target="/ppt/notesSlides/notesSlide4.xml" Id="R1a95e6db931c4f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ea0b0993942fe" /><Relationship Type="http://schemas.openxmlformats.org/officeDocument/2006/relationships/notesSlide" Target="/ppt/notesSlides/notesSlide5.xml" Id="Raee78c86d20f42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8689bd06143ec" /><Relationship Type="http://schemas.openxmlformats.org/officeDocument/2006/relationships/notesSlide" Target="/ppt/notesSlides/notesSlide6.xml" Id="Rbd53bc4b931d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9f0601ab34a87" /><Relationship Type="http://schemas.openxmlformats.org/officeDocument/2006/relationships/notesSlide" Target="/ppt/notesSlides/notesSlide7.xml" Id="R970b46c15e754b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ff7fc752a477e" /><Relationship Type="http://schemas.openxmlformats.org/officeDocument/2006/relationships/notesSlide" Target="/ppt/notesSlides/notesSlide8.xml" Id="R96d7ba27c3dd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285938dae446f" /><Relationship Type="http://schemas.openxmlformats.org/officeDocument/2006/relationships/notesSlide" Target="/ppt/notesSlides/notesSlide9.xml" Id="R68d7ae0d87b447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7a285c8264bf2" /><Relationship Type="http://schemas.openxmlformats.org/officeDocument/2006/relationships/notesSlide" Target="/ppt/notesSlides/notesSlide10.xml" Id="Re0ea70f6ac1546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384940a494991" /><Relationship Type="http://schemas.openxmlformats.org/officeDocument/2006/relationships/notesSlide" Target="/ppt/notesSlides/notesSlide11.xml" Id="R9f33bc42c81b41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8D3DF-9D95-4961-B4B9-CA01B4C7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111B-83C8-4628-BB9D-05AC205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F057-F1C8-46A8-8C60-F70BD9F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D8885-4B55-4BC8-A16F-76B23826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9758-1A18-4E63-B474-73E42557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Chatting 实时聊天系统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46D4D-81A9-481D-8C3A-E1A9305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rPr>
              <a:t>ER 图与关系模式讲解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05D7E-91CB-40B3-AC42-EB363BF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基于 README.md：Go + Next.js + PostgreSQL 的频道聊天、私信、好友、语音与后台管理系统。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CAB9-5F3F-49A6-B18E-8AFC106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CD2AA-A3C7-4B1B-B92C-D89B39E0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255D8-B8B6-4D27-9831-E20811F8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13 张主业务表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AC669-CFAA-4046-BDAF-EB39B1B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用户、Group、频道、消息、好友、私信会话与权限角色。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A70DA-896F-4079-B7E3-95EEFAD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A2D16-A34C-4BAE-BA12-43EC4C36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FFC8-2C5F-468F-9E67-1BFF233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 个业务域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6BBD5-3FEB-49D2-BE5A-83A81A7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身份域、群组频道域、社交关系域、私信会话域。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F1A35-7523-42E4-97DC-F4A200E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E5157-C682-4157-97AE-53DE373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67E30-8186-46D8-BB91-CE8277D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核心设计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E5A98-E092-4C3D-B80D-9869BE1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用多对多中间表承载成员关系，用独立会话表承载私信。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EE486-1DBA-4E7E-88C0-79695B6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7731F-7A4B-4B2D-9128-B7BF387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990600"/>
            <a:ext cx="1095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263241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263241"/>
                </a:solidFill>
                <a:latin typeface="Aptos"/>
                <a:ea typeface="Aptos"/>
                <a:cs typeface="Aptos"/>
              </a:rPr>
              <a:t>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84BEC-39A0-4D06-9697-FA375F0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09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CA4FA-FC2E-4414-9073-755013B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从业务对象到数据库结构</a:t>
            </a:r>
          </a:p>
        </p:txBody>
      </p:sp>
    </p:spTree>
    <p:extLst>
      <p:ext uri="{BB962C8B-B14F-4D97-AF65-F5344CB8AC3E}">
        <p14:creationId xmlns:p14="http://schemas.microsoft.com/office/powerpoint/2010/main" val="3296487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1B8CE-ED34-40A7-91E1-C40C04DB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CB73E-C615-4609-B6B0-8705436D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77BC49-0E62-4E32-BD2C-3903C48E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51327B-33FC-4A9F-9C94-46A071B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PROJECT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16351-BBC7-4FF9-9438-6089F00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数据模型服务的是一个“实时社区”产品，而不是单一聊天室。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8462C-D640-42A5-90B8-CEEEEB8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223D-E1CD-48E4-8A2B-72A81E7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843DC-EF71-408F-87D4-39864B0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身份与在线状态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F4D32-F05A-45BD-B5BF-BA43D2B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用户注册登录、资料、头像、管理员角色、在线状态与心跳。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B568E-0F15-4EFD-ACC0-F402EEF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48AE3-B162-49B5-BEC7-10F2F042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7721F-3DBB-48A1-8C84-54F022C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与频道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8F1B3-9C9A-4EB3-8F2C-B656F886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 拥有者、成员、文本频道、语音频道、频道人数限制。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4F34B-DD62-400B-BE0E-BBF2AF4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7C6C4-0D06-4E0A-832B-D4F50F6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894B0-C74D-4ECE-B1DA-F290434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消息与实时推送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9FBAD-1202-4A9F-8157-8ABC15E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频道消息和私信先落库，再由 WebSocket 推送，跨实例通过 Kafka fanout。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3F1C0-3E79-48FE-B5CB-588DC96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51A2-EE5A-4D5D-A5BA-9F4E208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CAF7A-14B1-4CEF-996B-117FF84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好友与私信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F2EF0-6C18-4653-A160-31A77841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好友申请、好友列表、非好友私信提示、双人私信会话。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AEDE8-23CA-44E9-B8F8-339F67E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讲 ER 图时先分业务域，可以避免把表关系看成零散外键；每张表都对应一个稳定的产品概念或关系。</a:t>
            </a:r>
          </a:p>
        </p:txBody>
      </p:sp>
    </p:spTree>
    <p:extLst>
      <p:ext uri="{BB962C8B-B14F-4D97-AF65-F5344CB8AC3E}">
        <p14:creationId xmlns:p14="http://schemas.microsoft.com/office/powerpoint/2010/main" val="6264548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41D29-05D8-4E10-9F80-53524D3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B85E2-B869-444D-BF5B-1E75F7B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C34C98-D5B2-42E1-83AA-BABABCF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586A85-94F0-48C2-A472-ABE149F6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AD93A-DC5C-4F65-8E2A-F7911F1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ER 总览可以拆成四个业务域，User 是所有关系的中心。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57E54-D8DF-4F5D-BEC4-E40F1BF5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33F86-6A26-4CA9-91BB-FF5E2BE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F40C6-1579-4230-A107-BA6443C3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19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BCCA7-E897-4AAD-A448-48AA1653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05025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 UK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 / online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DDFBD-8D40-4790-B0FC-79A0370A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31A40-A066-429F-A494-06C65DC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3B54D-9C3E-427E-A8A8-0EE8F26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906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F8C8E-0E2B-42F4-8117-9E2F64FE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764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04F58-5F11-49F0-A922-662FA74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5AB75-D68E-4106-B387-5A3F1495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4B38A-453A-49D9-B086-4CF8889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413F7-F9AE-4C34-8A5B-3590B1F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 / 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BF26D-D511-4DE5-99FC-F6AB822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48E6F-02E2-4BF7-A0BA-64CC41A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D2C77-9FFB-45C3-824F-F9D1A22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481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C8CCA-22CA-4C5C-8BD9-97B54BA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339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EF290-3FC4-4DE7-ACB3-205A6FB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A7296-CF6C-44FC-8129-3BD888E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55974-B6CB-4AB9-9194-02C686A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C2DC5-F166-40BA-A78F-AE300B1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63075-ED63-4E96-B631-1B8E5D5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C96DB-B642-4074-B59A-7A309E9B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8BBAF-4AE6-4A97-BF35-79A51C9F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97295-C8C7-4139-8156-DF2EA0C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0AF6A-1809-4D0A-A787-ABEF73CE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D1671-742C-43F8-BDE5-19C622A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4212B-94EE-4B21-A23E-C1824A7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FRIEND_REQUESTS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683B7-13B7-4CAD-89B6-0CFA8B54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525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addressee_id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014DF5-E17C-4730-9AD5-94EF305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7FEF69-F7FD-4412-8221-95F65388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664FD-F70E-47D1-8CC0-D1594591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765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FRIENDSHIPS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C8347-994C-4805-A402-59D1D81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friend_id FK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A1C350-B4A4-404A-A79C-DAA4228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77ED1-9B76-4A80-91B5-C2A9CA3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A4ADA4-D16E-443F-8759-8A29568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243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C21BB7-63D3-4A5B-96DA-DD285ECA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 UK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last_message_at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AE443B-C82A-438B-A224-C3FDF50C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E2B225-7778-4DFE-8299-6711699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29A19B-5F27-455B-8336-2B7DB0A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阅读顺序：先看 USERS，再看它与 Group/频道、好友、私信的连接；中间表负责多对多关系，消息表负责时间序列数据。</a:t>
            </a:r>
          </a:p>
        </p:txBody>
      </p:sp>
    </p:spTree>
    <p:extLst>
      <p:ext uri="{BB962C8B-B14F-4D97-AF65-F5344CB8AC3E}">
        <p14:creationId xmlns:p14="http://schemas.microsoft.com/office/powerpoint/2010/main" val="18375244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CFAD9C-4C7A-465C-89D3-881835D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F7F2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3837-0FEC-4E88-B10A-D9529CB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4A818-BBBE-4C56-9705-D7A3722B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FULL ER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0CDFC-E5CF-4F0A-B694-D99DB4A9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完整 ER 总图把 12 张主业务表和四类关系放在同一张图里。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95F73-73D4-4766-B58D-75575B41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按业务域分区阅读：左侧是 Group/频道消息，右侧是好友与私信，中间 USERS 是全模型枢纽。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8C32E-FC21-4D55-A049-F7371E7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5148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9A101-5697-4323-B633-79A6175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45148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9CE88-B5E2-4128-AD10-4620FD1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57350"/>
            <a:ext cx="2266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29831-729C-4EA2-A872-255F46CB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04E68-E0B6-494C-9ABE-AFDFC273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264F6-D6FA-4339-B629-485D3695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97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B6B4-38AA-4F4C-AB2D-BA1B30D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1485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 UK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 / online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B1303-C976-4B87-B14F-9330E8A7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6E124-61A2-4140-82E6-5D22AA7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4FD20-9F72-4B9A-9B15-8E5671FA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3EC3B-5C9C-4A5E-8FC4-1FF922DA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1485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UK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E3A88-4AB4-48FE-AAC5-D6ED62D2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A52E8-BB8E-4920-9B2F-8DAA5E66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D42EA-33E5-4929-9598-9331C9A6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E6EC4-DDD4-4864-B076-C9325AC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62325"/>
            <a:ext cx="1485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 / 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1072F-0572-4ACC-9EFD-24B2E9A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719F1-F502-4F1F-B734-FD7D9649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45B80-7A2D-4F99-8E3B-E1970638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4EAD6-0D56-4A01-B9E7-21718FA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9675"/>
            <a:ext cx="1485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CB169-384A-4E94-ACA2-2CDE7340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929132-000E-49A8-BA04-28722134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A27C7-21A2-4483-BF86-4CFFA4EB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9547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26E13-A037-41BF-ADBD-804DC373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240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name / position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6035C-3967-40EF-9839-4F892A4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85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57476C-0D0E-416E-AE39-1DFA8D0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18003-C0FE-4B0A-AC0B-091C6EB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337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DEA45-1CD2-4E75-9AD4-0F82571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62325"/>
            <a:ext cx="13525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3531E-716D-4BDD-B08F-93A14697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827ACB-8950-4DE9-A06D-DA0A984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29DAB-7D22-4B2A-9D61-1A4330A0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9107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9A668-B6B0-4B09-83CF-80F15B6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196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D9BB2B-F655-472C-8B39-896A486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1C5731-4A05-47D6-ADDD-5D1A302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25AED-9AFB-4AA0-A359-8794EB4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FRIEND_REQUESTS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99D367-51E8-45F0-AE1E-67397FB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28825"/>
            <a:ext cx="1562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requester_id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addressee_id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D3B6AC-1F59-4397-B1ED-F44906F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1695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1C197E-DAEF-4562-8462-A3B5ECDF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365929-8D7B-4D46-949F-C4763BB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FRIENDSHIPS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A407BF-5ADD-42AB-89D8-DCE4BE85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52775"/>
            <a:ext cx="1562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friend_id FK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AB63B2-E685-4082-91D1-E3127EC3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AAC935-7908-4AFE-9199-28D0B8BA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BB163D-107C-48E3-A74D-BE3EC444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670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866AB3-CAB9-424A-B920-F662F3A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95625"/>
            <a:ext cx="1676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 UK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last_message_at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697C35-E382-4EAE-8087-19CF511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041DEB-9BD0-44D6-9FE5-5DC276B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43ADBC-9222-4DFE-BE70-9B09A3F3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91075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DIRECT_CONVERSATION_MEMBERS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5BF467-AB70-45A9-943D-AC4E7651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019675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D0EE6B-12D3-4A2B-B6C9-4C91794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343229-BB60-4E98-AEE2-D73F65A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05CE16-888F-4F13-953B-915F7FAE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910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DIRECT_MESSAGES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7A39B4-8A8D-4FC3-BAB8-41123C68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019675"/>
            <a:ext cx="1676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conversation_id FK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E97DFA-5CCA-4DF2-95B8-F9EF4FB0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Group / 频道 / 消息域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016B57-F5AD-4EA8-81A2-EBD26311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85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用户中心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FD39C8-050B-4939-8BDD-CA13645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85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好友 / 私信域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9567A4-607D-4255-A747-27753FF0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5E0C75-B6E0-4C65-8A3B-1747F44E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4A3A"/>
                </a:solidFill>
                <a:latin typeface="Aptos"/>
                <a:ea typeface="Aptos"/>
                <a:cs typeface="Aptos"/>
              </a:rPr>
              <a:t>owns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291A52-9D55-499F-8682-2443043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47B704-0881-4601-8610-0418630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joins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56FB96-806F-4FAE-BC07-0C2327D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EAA736-D385-49DE-9315-9B73603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33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1924FB-1246-424F-BCA7-352B614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05025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EF7B02-999B-4D12-B838-9081F5E0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716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requests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7B7B4B-9EF5-4519-84E2-D05E2C60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90875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F00111-F533-4A57-B640-96AE03B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575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friends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0C899E-5A6E-400B-9932-036D8A66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67300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2FC309-C3C7-45E8-8149-241081CB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33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member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518C1B-EA28-49F8-9C19-60D7622D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33650"/>
            <a:ext cx="1714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7907AE-056C-4D9E-8C82-4765F86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8A8A"/>
                </a:solidFill>
                <a:latin typeface="Aptos"/>
                <a:ea typeface="Aptos"/>
                <a:cs typeface="Aptos"/>
              </a:rPr>
              <a:t>contains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344BEC-EB66-4919-B7F5-398DE43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52850"/>
            <a:ext cx="1714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67204E-9C56-44EC-B85E-F319C6E7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has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33CE24A-E390-4CC8-B386-5AB4C6C4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717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19E2F0-9C3A-4907-9407-2A49ABE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FE4DE6-78D3-4B63-9992-A4D097B3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1DFC1A9-1E12-4714-96E2-74C40EB3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673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6296D7A-A599-461C-AF6D-0DFA280F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4191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C6E6E97-337D-41F3-9FE4-D5324E4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pair_key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B2FE897-50C5-43E5-8C29-F8AFC105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67300"/>
            <a:ext cx="1714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A0DD7B4-8E75-42EF-8910-D163864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86150"/>
            <a:ext cx="1714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E5C595A-93D7-40D9-84DE-7E88C5A8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9AC17A-67B4-4486-868E-DDF899B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读图规则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B392F8-D776-44AE-98BE-429F1E7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实体表存对象</a:t>
            </a:r>
          </a:p>
          <a:p xmlns:a="http://schemas.openxmlformats.org/drawingml/2006/main">
            <a:pPr algn="ctr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中间表存多对多</a:t>
            </a:r>
          </a:p>
          <a:p xmlns:a="http://schemas.openxmlformats.org/drawingml/2006/main">
            <a:pPr algn="ctr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消息表存时间序列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1B169B-FDE0-41D0-ABB1-379F02F4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所有表默认包含 created_at / updated_at / deleted_at；deleted_at 支撑撤回、软删除和审计。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EA0181-43F8-4912-B06F-A2DF43D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27231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DE4B5-43BC-4052-9C2D-3CF91DB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EB35C-CA86-4060-B72F-E6925B7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52E6AA-6D62-4563-A6FA-07C5D0C3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FED999-A3A4-476B-A7BC-2AC65F9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D4081-71DE-4C1D-89FB-41BA9C24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核心实体表记录“对象本身”，关系表记录“对象之间如何连接”。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3FEF0-34F9-498F-85E5-C89CA45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D4C2-9699-4236-AAC0-CD34F6D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B4789-2232-4A7B-BF0D-F8FA025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9F94-3612-4992-A441-AA3D9151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主键 / 关键字段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319D1-B186-4C1E-8067-31C18A3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24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10D9-6921-4013-B71F-B678BF7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9BF12-1E7B-42CC-83DC-2F05F4B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A4A08-0403-4C34-BB5F-754FA97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C12A1-8EB1-4F0C-AD54-FE42120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7F7A7-71CD-4024-8446-ADE302B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64B77-0B5A-4317-AF17-E7090DB0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25B0F-DBB6-41DC-B1C0-BAA0F6CA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id；email；role；is_online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AF8D0-B072-4CA3-A07A-E2EE085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43C50-CEF9-4674-ACFC-48449049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955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系统账号、资料、头像、在线状态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D3572-36ED-4171-86A8-6769BC4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05CDA-A6BB-4864-ADAF-94396F27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955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 唯一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0CEC2-B1DF-4752-8138-74B75F5F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16A4F-2D8E-4B98-BBF7-ECCA91B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FD9C1-28BC-489F-B689-CD92690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8DFC1-F5FB-442D-9CD7-605F6B7A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99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id；owner_id；invite_code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C9931-48AE-4CD3-88D7-107B2FD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F3F53-06CE-48D4-A84D-3B07BC7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99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类似服务器/群组，是频道集合的容器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3C420-104B-420F-A6EF-E69C52E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71DC7-8A55-4F41-B71A-B79ECC4A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803C6-5995-43ED-8A6F-D666EA9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F9259-6FB4-4B2D-A8F0-DE96BA1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3B4BE-1956-4F74-B3B4-AA5544E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48A3C-A486-487B-B662-1C13A06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id；group_id；type；position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0B228-348A-4242-A232-B6A6FE5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24D72-DBC8-40B5-830D-D53A848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文本频道或语音频道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08C46-58CB-48D4-8F72-0663B9ED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671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47A34E-84C1-4A4A-B220-D2F9915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242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隶属于一个 Group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12AF38-D4FA-4238-AD4F-65B9EB8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B5789-6355-469E-8329-A63AB77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59EDD-4DFF-4C0A-AB14-D09C15AD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BFCBD4-4203-4134-A671-393651B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386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id；sender_id；channel_id；content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E6C3D7-FE1D-4397-AB67-9F3790A6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15924A-D82C-4F91-A9B9-347A647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386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频道聊天消息历史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D847A4-6043-4078-92CC-1C568ED6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FF30F0-E437-4D20-A416-B8EFC82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发送者与频道均为外键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7B4D20-CA48-4510-878E-A24B097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BB4409-E8DA-4E4D-B055-68326D9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E22DE6-B2C6-48B4-B842-C6E7351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958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AB1E65-4DCC-4412-8EC0-0D83AFC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id；group_id；name；position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39090-0C58-4CD9-BB99-95C478C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95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BA6C1B-2F6A-4798-98F7-B628593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529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内身份组和权限排序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027C87-25EB-4A02-A167-3EE6980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94AB77-1981-4852-A2E3-18DE853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同一 Group 下定义角色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4CC3A6-CC0F-4E45-B823-4F3BAFD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 说明：带 gorm.Model 的表都包含 id、created_at、updated_at、deleted_at，其中 deleted_at 用于软删除。</a:t>
            </a:r>
          </a:p>
        </p:txBody>
      </p:sp>
    </p:spTree>
    <p:extLst>
      <p:ext uri="{BB962C8B-B14F-4D97-AF65-F5344CB8AC3E}">
        <p14:creationId xmlns:p14="http://schemas.microsoft.com/office/powerpoint/2010/main" val="18438784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C87A7-3F21-4E3F-8C57-BA260EDE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943F-DE4C-479A-92DB-72BDD45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AC4CEF-E1A0-4809-974B-A02CBF78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0E90BC-936F-412F-A0F1-BACC1DD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RELATIONAL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45A59-8B3A-49DB-9D78-715443B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关系模式写法：先列属性，再明确主键、外键与唯一约束。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DF90-E1C8-4348-BF32-FB5118E5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504AB-DB58-43B7-9FF1-593B5A22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1D91-C74C-490B-B956-B6045F96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335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F199E-F8DF-4B5C-A787-05762FB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25C2F-0F03-4AB9-A80C-5CCA599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33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70557-7DAD-4F2D-9801-A33F73F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B0AD-A6FE-4E08-B43B-D1177BC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C8B2F-01B2-4C7A-BBB3-2DF0693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04ED7-5C4A-4553-A23B-67E4652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490E3-D868-42C7-959D-69DE41D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username, email, password, avatar, avatar_url, role, bio, last_seen, is_online,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3275D-B7A5-48F5-8737-F3FC99C7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66F85-A97C-44E3-A839-77CD81A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288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id；UK: 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2B72A-0A2A-48AF-AE56-09028D3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E51AD-DCF3-4E06-B0F7-FA5F80E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8D728-B9BC-4B0A-AE97-38D6D51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6B86D-EAAA-40C6-9325-7D19C19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name, description, icon, owner_id, invite_code,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BEC9B-C603-4B5D-A8FF-3D43E2E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3A896-89E8-47B3-A14C-6078910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owner_id；UK: invite_code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24A24-44A6-4BA4-B727-86523F9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485FB-A4BF-4877-8844-08BCD02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6CED-23F6-40A8-9E91-02D4C20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480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B8F12-292A-444C-885D-D4E0755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name, type, description, group_id, position, created_by, max_members,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EB817-0FC2-47E6-8A0A-D258FDF7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91490-BA41-41E6-A766-2C015E1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group_id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1FB30-B835-4CE3-9EA8-44375BA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60E92-10D5-4BD3-A53D-1785FCF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DF3FE-9017-4393-B4EF-5266C00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861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900D55-7A62-4959-BEB7-AE5F719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433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content, sender_id, channel_id, created_at, updated_at, deleted_at)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C4436-9C87-4ECC-A896-E42C574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E5666-99B2-4A81-9F21-25674AD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43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sender_id, channel_id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84303-EBE2-439A-90D3-45DACD8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4C2F5-19CD-41E1-9003-9061A4A1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5FA5F-5CB3-4B46-A8D8-CBAFF612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243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CE7E7-0EEF-4920-8C70-C49D717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14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group_id, name, description, color, position, is_default, is_system,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3BDA8C-CC86-4EBC-905A-00746E1B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24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C8F17F-F0C3-4CAC-8231-DAA1FED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14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group_id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41BA78-34B6-46AD-A5EF-F27A231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这里的省略号表示 GORM 公共审计字段。讲解时重点不是背字段，而是说明每个外键把哪两个业务对象连起来。</a:t>
            </a:r>
          </a:p>
        </p:txBody>
      </p:sp>
    </p:spTree>
    <p:extLst>
      <p:ext uri="{BB962C8B-B14F-4D97-AF65-F5344CB8AC3E}">
        <p14:creationId xmlns:p14="http://schemas.microsoft.com/office/powerpoint/2010/main" val="12214718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FE918-CE84-4DD8-8795-96C4202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85E95-FA10-4D20-A871-91361E7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54CD6B-EE7F-45B6-A6F8-FAFEB12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118038-14AA-42E2-B75F-7E450B8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GROUP + CHANNEL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DA09-88A1-4288-9AF1-DA670BA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Group 到频道是层级关系，用户加入 Group 后再进入具体频道。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1B015-F3A0-4E7E-AEA8-A0F6DDBF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801E0-3138-436E-BBF2-ABB037B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7C09D-BD93-452E-85B5-0AC1D36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4AC00-38B3-4BDE-B1A6-484DE126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6C420-208A-49E7-AF3D-9880AF5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62CD2-E7E5-46A4-9DB4-15D2898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1D2C-99E1-4C52-94B9-D246282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858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60E5A-E2D9-4519-8407-423B4B33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571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04BBB-DC00-4916-A8AF-D5414150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2EDB1-2739-4279-808F-143FBAC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12C9-AC5B-4EED-A24B-27E5F88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85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B34DD-64C0-4054-9E44-C717505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5716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E2C09-ED28-4267-A665-AA89E313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3ADBF-8689-4DC7-9668-27FFB04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6E200-5472-4E98-BEA3-D6B1E48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302C8-E880-41A8-A643-07B00D4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F9D73-40F8-4D6B-8770-133600D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97A35-485B-4610-A025-E5A6AB1B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0C667-73EC-40DD-A111-8C90CDA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A19AD-F9B6-4DD3-A20E-4F963BE5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BB5A0-B139-4733-B73D-B26F4502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0F691-454E-4241-BE65-807048C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0D1E7-B5F5-478C-981B-37C77F9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09A80-7660-4BFF-9F66-459321A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name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is_default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38AC0-1695-4FFD-A3BE-5E062B5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7DCEB-82F3-4BC6-8EE3-AC6D1AF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040CA3-8F57-4698-8F9C-B886D06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D8728-813E-4CF6-8BF7-FF23459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C13284-0C2F-46E5-8716-8056D1AD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15F03-A9FD-494F-8120-D14BEB3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关系解读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F985D-27BE-4635-B8FC-50CC298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67325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USERS 与 CHANNEL_GROUPS 是多对多，因此拆成 USER_GROUPS；USERS 与 CHANNELS 的活跃状态也用 USER_CHANNELS 表达。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C6048-FDCA-4F33-9C97-1FEC79D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FE5F2F-B50A-454B-B805-0F9A1762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A219A-D99C-4660-866D-45D035C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347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为什么不直接写在用户表？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7130D0-931A-4AFD-A03D-0CDF6E8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67325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一个用户可加入多个 Group/频道；一个 Group/频道也有多个用户，直接存数组会破坏关系模型。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5FF98C-FA50-497D-9A23-2C7D8498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关系模式：USER_GROUPS(id, user_id, group_id, role, ...)，USER_CHANNELS(id, user_id, channel_id, ...)。</a:t>
            </a:r>
          </a:p>
        </p:txBody>
      </p:sp>
    </p:spTree>
    <p:extLst>
      <p:ext uri="{BB962C8B-B14F-4D97-AF65-F5344CB8AC3E}">
        <p14:creationId xmlns:p14="http://schemas.microsoft.com/office/powerpoint/2010/main" val="9486866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D47E4-3E4C-478B-93EE-1C373BD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E3D29-DAC0-4CE7-AF5A-B9C6846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94E6D4-7C29-49AA-94AA-C7E7A69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6CFABE-39B0-4774-AC91-1F614A3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MESSAGE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71A36-27FA-4A5C-84C9-3168C61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消息表把“谁发的、发到哪、发了什么”拆成清晰外键。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62850-3758-467D-9E00-FC6C4AE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4CEC-93E2-4336-942A-9DAB430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68353-E2E5-4C14-9E8F-4964E87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CA0B4-DF72-4DB6-8A02-C2A447A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avatar_url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C1A13-B6A6-4DDD-A9CE-22258B5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E81A-902E-4682-B4AD-4F3FD69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537CB-C8AB-4B87-98C1-79FFE75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02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8C24C-A991-423F-B3A2-FAB1DD0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86025"/>
            <a:ext cx="182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content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70CF2-8CE5-4CB1-955A-B5428408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8B32E-607C-44D3-8570-7D78CF4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09D37-6462-410E-A481-6678969E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808BE-5BEC-445B-AE8E-1B3D174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type=text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690AD-6AA1-4229-AC86-D29A5BA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E25AF-7282-4F18-BD57-95C20DF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F654B-2BAB-4693-8E36-9CE5080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E026C-AED2-4507-8FF8-9FDE0CE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belongs 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65D2B-3E92-4E03-AB95-2B45FE1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D0FED-BA2B-4FC3-88DB-4381D99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1B12-C2F5-497F-B66E-340DA23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落库优先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96D34-9FCF-4484-9EAC-0E30FDEB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频道消息和私信都先写入数据库，刷新后仍能恢复历史。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40B75-BF04-4332-BAB2-02CC17F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E2CCC-D7E8-4EA9-9925-A4ED92C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3F472-687D-4301-BD72-0146AE1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实时推送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B5CCE-06FB-4F5C-A905-A86367DB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写库后通过 WebSocket 推送；多实例下 Kafka/Redpanda 做事件 fanout。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EF2EE-6F4A-43F5-A28E-D3E481C7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F02CB-3B3C-4A56-9D99-0B586DDC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F4EDA-5F6A-4F24-80C8-3913697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778E7-9D02-44CD-866B-56BE7A0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撤回等场景依赖 deleted_at，前端刷新后不会再展示已撤回消息。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4B1A3-7F33-4FCA-AE91-940E6BC7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频道消息关系模式：MESSAGES(id, content, sender_id, channel_id, created_at, updated_at, deleted_at)。</a:t>
            </a:r>
          </a:p>
        </p:txBody>
      </p:sp>
    </p:spTree>
    <p:extLst>
      <p:ext uri="{BB962C8B-B14F-4D97-AF65-F5344CB8AC3E}">
        <p14:creationId xmlns:p14="http://schemas.microsoft.com/office/powerpoint/2010/main" val="1733002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ED11B-3865-4779-B84F-C777E7E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5ADD-E03C-4443-82DF-12AF74C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3C14C2-5D20-4510-95ED-8B684467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6586B4-4A13-4D51-829A-BFA2B7A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FRIENDS + DM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57AE5-D83B-4CC7-89B4-A7C5C4FB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好友与私信分开建模：关系状态不等于聊天会话。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774EA-FCDF-43E7-BB08-EF7D1B81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7F8E-E097-4270-B0A3-6BD91E2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D2EAF-8072-43D9-B32D-CBE855D4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954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8EFC5-45C2-4A73-BB39-BEE09F1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526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243D-22D6-4166-9224-2BA0FAA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81C5-949E-4FF4-92AC-7BC9F371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0E7A5-3170-475B-8288-82A9BBE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C7D0D-86A1-4188-83A2-8E0C9D3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C1FA4-C6CA-4BF3-B00C-64BD3D4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F36D-D8CD-4BF3-84B5-37F78B6E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907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requester_id, addressee_id, status, message,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0C127-BB41-4320-B9F9-9FDDAC0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18310-803B-4D08-A2E5-1E45326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申请中的关系状态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DE75A-3753-459A-B17C-4705F31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96D77-6984-4474-B3F1-F0538E4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FRIENDSHIPS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4E2E6-56EF-4C8C-9600-616895B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717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1A07C-5814-46B6-A253-31A1A64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289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user_id, friend_id,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D2A82-CE9B-492C-B8E4-6EC7D06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41EE1-1982-44E9-B4EB-B2C3F15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已建立好友关系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75E93-4628-4223-BD13-3958FEB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02EE0-3A94-4AD6-A101-BDD9667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E9D60-F3E1-47BD-858E-864FA88A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099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1A283-9236-43C7-B7F1-6AB5A893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670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pair_key, last_message_at,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57ED5-0922-406D-878A-EE2E144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5AC18-DC61-4A0C-AFDC-35E7886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两人私信会话，pair_key 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47D15-EC03-4291-A0B0-E32C703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B7F83-5465-48FE-81B3-B61D38C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DIRECT_CONVERSATION_MEMBERS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C90F4-8E51-4878-A7BD-2C56085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480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15A66-E38E-4EC6-B23C-1620460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052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direct_conversation_id, user_id, ...)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1072B-B050-45BD-AC12-55932EE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BDB85-B851-4E9F-8CB1-3B2BC63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会话成员中间表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4540B-AE14-4C25-A936-4CCCB42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11BB0-255E-48B8-B539-94CABE1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DIRECT_MESSAGES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AF6E9-7E33-4887-8D5A-BE42566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862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92AB4-DE89-437D-944B-FA08701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433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conversation_id, sender_id, content,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F48CB-5C70-4EAD-BD7D-C70EB33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BEDE41-B10C-42B8-8F10-276D242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私信消息历史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DFA6EA-D3DE-4219-B64C-27CDC899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0C40AD-CAED-4C61-A7E0-4F56FE2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FC885-7B0B-4DFE-AC01-DA0B2DAF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38725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为什么会话要有 pair_key？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EC7C15-1CE1-45DC-8256-4BD97A9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62575"/>
            <a:ext cx="401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同一对用户只能对应一个双人会话，避免 A-B 与 B-A 被创建成两条不同会话。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D10C2F-8DC3-42DB-8DE4-FEEA35B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25E0F-A3F3-4F57-8418-82E4F290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2F5C52-6D00-49C6-A357-BF98C5E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387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为什么好友请求不直接变好友？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86CCF7-E5B4-4366-BF25-34BEEDB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625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申请、接受、拒绝是状态机；FRIEND_REQUESTS 保存过程，FRIENDSHIPS 保存结果。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0E18C-8808-4975-8FEA-8FEC75D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 中还提到：系统允许非好友私信，同时用提示提醒关系状态，因此会话模型和好友模型必须解耦。</a:t>
            </a:r>
          </a:p>
        </p:txBody>
      </p:sp>
    </p:spTree>
    <p:extLst>
      <p:ext uri="{BB962C8B-B14F-4D97-AF65-F5344CB8AC3E}">
        <p14:creationId xmlns:p14="http://schemas.microsoft.com/office/powerpoint/2010/main" val="8066429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FD0A9-B628-4681-9895-8119664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8F363-9288-4817-B437-59B49317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3E6661-AFF5-4B09-B44C-EB86E9A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E4BFE9-4A8F-4DED-9BA7-48A29FA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0BBC7-D127-445D-AF6E-C056B4C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约束设计的目标：保证身份唯一、层级清楚、消息可追溯。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97F20-194B-4BA4-9779-532E8C8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7C7F0-E713-4476-AB53-ED41F57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CE728-34B9-4350-B53F-5898CAE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C191-95E1-42E5-9BE9-4ED6B26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出现位置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E7983-D2FD-4964-B576-84E5291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6C80D-4E77-4DD7-ACA3-C328904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669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设计作用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45724-AD15-464B-9D74-9FDE6E4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CC3D4-92E2-4FFB-A79F-FD1968B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主键 PK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2F979-4399-4AE7-9612-C0AAF76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E02D0-304B-42BE-A225-0CBDCD2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所有主业务表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1F62D-8C80-4EB4-8E50-7CEAF79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52617-C120-42A6-A5A0-A988DF89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622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每条记录都有稳定身份，便于外键引用和软删除。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C8D55-09E2-420C-B615-C2611E4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E6FD1-A113-4BDB-AB56-EC4C63C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唯一 UK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0139C-DF9A-4674-8583-594B676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46BA2-B81D-459F-A89C-0680430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USERS.email；CHANNEL_GROUPS.invite_code；DIRECT_CONVERSATIONS.pair_key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287DB-6750-43DD-93DC-A6294948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03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ABFE4-32D0-4CCB-B9A1-39419556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防止重复账号、重复邀请码和重复双人会话。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1758F-3EE4-4A31-94CC-6C9F9E9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980EE-1A17-4608-99D2-31EEAE0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外键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4A28F-03FB-4496-9796-17FD75D4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7F1E1-4618-4F0B-A9C0-E82DE22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owner_id、group_id、sender_id、channel_id、conversation_id 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381C4-03FB-4672-9EC4-2CBDC56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99A5A-C130-4E63-97DB-1C7E4E74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让对象关系可追踪，避免孤立消息或无归属频道。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4062B-0678-4699-8432-140A2209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0C570-7BB3-44D1-AE8C-DCC1894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中间表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D168B9-FBD7-42B9-8B43-898D36E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B45BEC-123F-46C5-910D-0EFBEE2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USER_GROUPS、USER_CHANNELS、DIRECT_CONVERSATION_MEMBERS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A3333-85FA-4AEA-8384-17F9492A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80A3F-9909-42AB-9A22-415FDCF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表达多对多或当前参与关系，避免在单表存数组。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24A53C-745B-4CBB-8327-8E9396B4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0E069-77EE-416B-B189-02A3523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03914-C957-4895-862E-A46A463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C5A41F-043C-4CDB-A891-A38808FD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deleted_at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C2ED90-EB67-4EFE-BBCE-EDA84690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CAD545-9BEA-4135-9163-B276B33A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434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撤回、删除、恢复和审计更自然，不破坏历史引用。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9A5BF6-0352-41AE-8651-1807301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范式角度：实体属性放在实体表，关系属性放在关系表；例如 User 在 Group 中的 role 属于 USER_GROUPS，而不是 USERS。</a:t>
            </a:r>
          </a:p>
        </p:txBody>
      </p:sp>
    </p:spTree>
    <p:extLst>
      <p:ext uri="{BB962C8B-B14F-4D97-AF65-F5344CB8AC3E}">
        <p14:creationId xmlns:p14="http://schemas.microsoft.com/office/powerpoint/2010/main" val="15146067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B351C-547E-4B83-B67F-93582F8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4AE7-4764-4238-AF85-B707D84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245AB7-D52B-47DE-8A9C-CB453E5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891DB2-147E-4BD0-9309-8C71E92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3D0C-3158-4026-A5E3-E301C54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最终关系模式支撑了可扩展、可演示、可运维的实时社区骨架。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5B21F-A92E-4618-A401-CC57648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29043-7AE0-42AE-BC61-EA270E8D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729F-7863-4794-B99E-E9208DD7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1. User 是中心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B12E-EBCD-4B2D-84B6-8615E999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拥有 Group、发送消息、加入频道、发起好友申请、参与私信会话。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6D69C-E433-4F28-A797-74234BC4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35ADD-5E97-4016-A74B-E423E25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FCDA8-BEC7-4BCD-ABBB-558A980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2. Group 是容器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C6E1-8543-4894-A2AD-3365A21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 包含频道、成员、身份组；频道承载文本或语音场景。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D297-919E-4250-88BA-FB16E59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1CD3-3923-4FFF-909D-CB11B4C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6D974-FC68-422B-BC5E-0F7AACC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3. Message 是流水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73BD5-38B7-40D7-9BB2-6A9F5D5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消息通过 sender_id 与 channel/conversation 关联，适合历史分页和实时同步。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3E746-DF69-42C0-914B-0DE32EF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52303-B28C-499F-B4A5-09114B24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906AB-B797-429E-A37F-FE4E15B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4. Relation 用中间表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335E4-789E-48EC-A407-89F3D71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用户-群组、用户-频道、用户-会话成员关系都独立建表，结构更清楚。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01747-22CA-4DFF-AF1B-0DCBDFB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5FD6B-6522-4ABA-92D7-51AF688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7573-B6F8-4022-B022-3E7A25E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5. Constraint 保证一致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34FDD-6213-461D-BED2-50CCC8C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PK、FK、UK、deleted_at 共同保证数据可定位、可引用、可恢复。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AC704-4565-4AA5-9F57-20C1A9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一句话记忆：这个 ER 图不是“聊天消息表”的扩展，而是围绕用户、群组、频道、好友和私信会话组织起来的实时社区数据模型。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318793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2026-06-03T13:23:33.4560000Z</dcterms:created>
  <dcterms:modified xsi:type="dcterms:W3CDTF">2026-06-03T13:23:33.4560000Z</dcterms:modified>
</coreProperties>
</file>