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12c9a2969a411f" /><Relationship Type="http://schemas.openxmlformats.org/officeDocument/2006/relationships/extended-properties" Target="/docProps/app.xml" Id="Rf421fec8e0074cc6" /><Relationship Type="http://schemas.openxmlformats.org/officeDocument/2006/relationships/officeDocument" Target="/ppt/presentation.xml" Id="Rc676b09cd5a544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7b483664734c6a"/>
  </p:sldMasterIdLst>
  <p:notesMasterIdLst>
    <p:notesMasterId xmlns:r="http://schemas.openxmlformats.org/officeDocument/2006/relationships" r:id="Rd57ef6e21b3349ab"/>
  </p:notesMasterIdLst>
  <p:sldIdLst>
    <p:sldId xmlns:r="http://schemas.openxmlformats.org/officeDocument/2006/relationships" id="256" r:id="R5a7e934e2a114bb9"/>
    <p:sldId xmlns:r="http://schemas.openxmlformats.org/officeDocument/2006/relationships" id="257" r:id="R38073b86d93f454f"/>
    <p:sldId xmlns:r="http://schemas.openxmlformats.org/officeDocument/2006/relationships" id="258" r:id="R5924463d519c4a2e"/>
    <p:sldId xmlns:r="http://schemas.openxmlformats.org/officeDocument/2006/relationships" id="259" r:id="R51b220f98031478a"/>
    <p:sldId xmlns:r="http://schemas.openxmlformats.org/officeDocument/2006/relationships" id="260" r:id="R368c9b0441c74fcc"/>
    <p:sldId xmlns:r="http://schemas.openxmlformats.org/officeDocument/2006/relationships" id="261" r:id="R3be98b5c375c4a38"/>
    <p:sldId xmlns:r="http://schemas.openxmlformats.org/officeDocument/2006/relationships" id="262" r:id="R298a1eb437144376"/>
    <p:sldId xmlns:r="http://schemas.openxmlformats.org/officeDocument/2006/relationships" id="263" r:id="R39b2229af18e4eb4"/>
    <p:sldId xmlns:r="http://schemas.openxmlformats.org/officeDocument/2006/relationships" id="264" r:id="R91aad7e7b1cc4b01"/>
    <p:sldId xmlns:r="http://schemas.openxmlformats.org/officeDocument/2006/relationships" id="265" r:id="Rded400f710204261"/>
    <p:sldId xmlns:r="http://schemas.openxmlformats.org/officeDocument/2006/relationships" id="266" r:id="Rb7eef8b1db8d40c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38e1ccd1024e92" /><Relationship Type="http://schemas.openxmlformats.org/officeDocument/2006/relationships/slideMaster" Target="/ppt/slideMasters/slideMaster1.xml" Id="R9c7b483664734c6a" /><Relationship Type="http://schemas.openxmlformats.org/officeDocument/2006/relationships/notesMaster" Target="/ppt/notesMasters/notesMaster1.xml" Id="Rd57ef6e21b3349ab" /><Relationship Type="http://schemas.openxmlformats.org/officeDocument/2006/relationships/presProps" Target="/ppt/presProps.xml" Id="R0853d5b596614a02" /><Relationship Type="http://schemas.openxmlformats.org/officeDocument/2006/relationships/viewProps" Target="/ppt/viewProps.xml" Id="R9269cb98c0a7478c" /><Relationship Type="http://schemas.openxmlformats.org/officeDocument/2006/relationships/tableStyles" Target="/ppt/tableStyles.xml" Id="R1a30516b60fa4348" /><Relationship Type="http://schemas.openxmlformats.org/officeDocument/2006/relationships/slide" Target="/ppt/slides/slide1.xml" Id="R5a7e934e2a114bb9" /><Relationship Type="http://schemas.openxmlformats.org/officeDocument/2006/relationships/slide" Target="/ppt/slides/slide2.xml" Id="R38073b86d93f454f" /><Relationship Type="http://schemas.openxmlformats.org/officeDocument/2006/relationships/slide" Target="/ppt/slides/slide3.xml" Id="R5924463d519c4a2e" /><Relationship Type="http://schemas.openxmlformats.org/officeDocument/2006/relationships/slide" Target="/ppt/slides/slide4.xml" Id="R51b220f98031478a" /><Relationship Type="http://schemas.openxmlformats.org/officeDocument/2006/relationships/slide" Target="/ppt/slides/slide5.xml" Id="R368c9b0441c74fcc" /><Relationship Type="http://schemas.openxmlformats.org/officeDocument/2006/relationships/slide" Target="/ppt/slides/slide6.xml" Id="R3be98b5c375c4a38" /><Relationship Type="http://schemas.openxmlformats.org/officeDocument/2006/relationships/slide" Target="/ppt/slides/slide7.xml" Id="R298a1eb437144376" /><Relationship Type="http://schemas.openxmlformats.org/officeDocument/2006/relationships/slide" Target="/ppt/slides/slide8.xml" Id="R39b2229af18e4eb4" /><Relationship Type="http://schemas.openxmlformats.org/officeDocument/2006/relationships/slide" Target="/ppt/slides/slide9.xml" Id="R91aad7e7b1cc4b01" /><Relationship Type="http://schemas.openxmlformats.org/officeDocument/2006/relationships/slide" Target="/ppt/slides/slide10.xml" Id="Rded400f710204261" /><Relationship Type="http://schemas.openxmlformats.org/officeDocument/2006/relationships/slide" Target="/ppt/slides/slide11.xml" Id="Rb7eef8b1db8d40c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93acce5db445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a2354699284e40" /><Relationship Type="http://schemas.openxmlformats.org/officeDocument/2006/relationships/notesMaster" Target="/ppt/notesMasters/notesMaster1.xml" Id="R5dbbb3c507e64a0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aede4a3f49425b" /><Relationship Type="http://schemas.openxmlformats.org/officeDocument/2006/relationships/notesMaster" Target="/ppt/notesMasters/notesMaster1.xml" Id="Rc1838d4d244148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291ee18c474a8e" /><Relationship Type="http://schemas.openxmlformats.org/officeDocument/2006/relationships/notesMaster" Target="/ppt/notesMasters/notesMaster1.xml" Id="R073e4d9754094be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b7277ad99dc4812" /><Relationship Type="http://schemas.openxmlformats.org/officeDocument/2006/relationships/notesMaster" Target="/ppt/notesMasters/notesMaster1.xml" Id="Rf1e0ee2a756c43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cf6d8bfa954734" /><Relationship Type="http://schemas.openxmlformats.org/officeDocument/2006/relationships/notesMaster" Target="/ppt/notesMasters/notesMaster1.xml" Id="R0de8bdd66b1744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7791d82c71d41ca" /><Relationship Type="http://schemas.openxmlformats.org/officeDocument/2006/relationships/notesMaster" Target="/ppt/notesMasters/notesMaster1.xml" Id="R031cf3fe09e14da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06a2cba71b447e6" /><Relationship Type="http://schemas.openxmlformats.org/officeDocument/2006/relationships/notesMaster" Target="/ppt/notesMasters/notesMaster1.xml" Id="Ref72f3314ae7461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ecd1a4297ac49b4" /><Relationship Type="http://schemas.openxmlformats.org/officeDocument/2006/relationships/notesMaster" Target="/ppt/notesMasters/notesMaster1.xml" Id="R5cc8e2f6682642b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af3bc4dc6c94553" /><Relationship Type="http://schemas.openxmlformats.org/officeDocument/2006/relationships/notesMaster" Target="/ppt/notesMasters/notesMaster1.xml" Id="Rf3778ee4653f404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6326ee2bbef456a" /><Relationship Type="http://schemas.openxmlformats.org/officeDocument/2006/relationships/notesMaster" Target="/ppt/notesMasters/notesMaster1.xml" Id="Ra5f72fe532f5432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d93ab41b94a4213" /><Relationship Type="http://schemas.openxmlformats.org/officeDocument/2006/relationships/notesMaster" Target="/ppt/notesMasters/notesMaster1.xml" Id="R45a3f3ed668d4d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43769640ca407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d90512c217492c" /><Relationship Type="http://schemas.openxmlformats.org/officeDocument/2006/relationships/slideLayout" Target="/ppt/slideLayouts/slideLayout1.xml" Id="Rb501eddaf8cb4f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01eddaf8cb4f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ef9addae2645bb" /><Relationship Type="http://schemas.openxmlformats.org/officeDocument/2006/relationships/notesSlide" Target="/ppt/notesSlides/notesSlide1.xml" Id="R2c96cb3572e740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f7fc358a254d47" /><Relationship Type="http://schemas.openxmlformats.org/officeDocument/2006/relationships/notesSlide" Target="/ppt/notesSlides/notesSlide2.xml" Id="R5ac0bb0255af45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86cb5130e5467b" /><Relationship Type="http://schemas.openxmlformats.org/officeDocument/2006/relationships/notesSlide" Target="/ppt/notesSlides/notesSlide3.xml" Id="R6e5e2989cde646c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745818626c4df4" /><Relationship Type="http://schemas.openxmlformats.org/officeDocument/2006/relationships/notesSlide" Target="/ppt/notesSlides/notesSlide4.xml" Id="R1a95e6db931c4f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dea0b0993942fe" /><Relationship Type="http://schemas.openxmlformats.org/officeDocument/2006/relationships/notesSlide" Target="/ppt/notesSlides/notesSlide5.xml" Id="Raee78c86d20f428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48689bd06143ec" /><Relationship Type="http://schemas.openxmlformats.org/officeDocument/2006/relationships/notesSlide" Target="/ppt/notesSlides/notesSlide6.xml" Id="Rbd53bc4b931d4e0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99f0601ab34a87" /><Relationship Type="http://schemas.openxmlformats.org/officeDocument/2006/relationships/notesSlide" Target="/ppt/notesSlides/notesSlide7.xml" Id="R970b46c15e754ba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6ff7fc752a477e" /><Relationship Type="http://schemas.openxmlformats.org/officeDocument/2006/relationships/notesSlide" Target="/ppt/notesSlides/notesSlide8.xml" Id="R96d7ba27c3dd4ab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0285938dae446f" /><Relationship Type="http://schemas.openxmlformats.org/officeDocument/2006/relationships/notesSlide" Target="/ppt/notesSlides/notesSlide9.xml" Id="R68d7ae0d87b447d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b7a285c8264bf2" /><Relationship Type="http://schemas.openxmlformats.org/officeDocument/2006/relationships/notesSlide" Target="/ppt/notesSlides/notesSlide10.xml" Id="Re0ea70f6ac15461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0384940a494991" /><Relationship Type="http://schemas.openxmlformats.org/officeDocument/2006/relationships/notesSlide" Target="/ppt/notesSlides/notesSlide11.xml" Id="R9f33bc42c81b413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08D3DF-9D95-4961-B4B9-CA01B4C7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36111B-83C8-4628-BB9D-05AC2057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1150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71F057-F1C8-46A8-8C60-F70BD9FB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8D8885-4B55-4BC8-A16F-76B23826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3B9758-1A18-4E63-B474-73E42557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8096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Chatting 实时聊天系统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B46D4D-81A9-481D-8C3A-E1A93052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647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C84A3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C84A3A"/>
                </a:solidFill>
                <a:latin typeface="Aptos Display"/>
                <a:ea typeface="Aptos Display"/>
                <a:cs typeface="Aptos Display"/>
              </a:rPr>
              <a:t>ER（实体关系）图与关系模式讲解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E05D7E-91CB-40B3-AC42-EB363BF8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基于 README.md（项目说明文件）：Go、Next.js、PostgreSQL（技术栈）的频道聊天、私信、好友、语音与后台管理系统。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96CAB9-5F3F-49A6-B18E-8AFC106B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2857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DCD2AA-A3C7-4B1B-B92C-D89B39E0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A255D8-B8B6-4D27-9831-E20811F8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2590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12 张主业务表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AAC669-CFAA-4046-BDAF-EB39B1B30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2590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用户、Group（群组）、频道、消息、好友、私信会话与权限角色。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CA70DA-896F-4079-B7E3-95EEFAD79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05150"/>
            <a:ext cx="2857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BA2D16-A34C-4BAE-BA12-43EC4C36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051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0">
            <a:solidFill>
              <a:srgbClr val="1F8A8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66FFC8-2C5F-468F-9E67-1BFF233B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238500"/>
            <a:ext cx="2590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4 个业务域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B6BBD5-3FEB-49D2-BE5A-83A81A76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562350"/>
            <a:ext cx="2590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身份域、群组频道域、社交关系域、私信会话域。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BF1A35-7523-42E4-97DC-F4A200E9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05150"/>
            <a:ext cx="2857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DE5157-C682-4157-97AE-53DE37327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051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B2E"/>
          </a:solidFill>
          <a:ln xmlns:a="http://schemas.openxmlformats.org/drawingml/2006/main" w="0">
            <a:solidFill>
              <a:srgbClr val="C98B2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F67E30-8186-46D8-BB91-CE8277D3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238500"/>
            <a:ext cx="2590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核心设计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6E5A98-E092-4C3D-B80D-9869BE15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562350"/>
            <a:ext cx="2590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用多对多中间表承载成员关系，用独立会话表承载私信。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BEE486-1DBA-4E7E-88C0-79695B696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762000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37731F-7A4B-4B2D-9128-B7BF387D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990600"/>
            <a:ext cx="1095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4200" b="1">
                <a:solidFill>
                  <a:srgbClr val="263241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263241"/>
                </a:solidFill>
                <a:latin typeface="Aptos"/>
                <a:ea typeface="Aptos"/>
                <a:cs typeface="Aptos"/>
              </a:rPr>
              <a:t>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C84BEC-39A0-4D06-9697-FA375F06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18097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关系模式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9CA4FA-FC2E-4414-9073-755013B8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从业务对象到数据库结构</a:t>
            </a:r>
          </a:p>
        </p:txBody>
      </p:sp>
    </p:spTree>
    <p:extLst>
      <p:ext uri="{BB962C8B-B14F-4D97-AF65-F5344CB8AC3E}">
        <p14:creationId xmlns:p14="http://schemas.microsoft.com/office/powerpoint/2010/main" val="32964879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C1B8CE-ED34-40A7-91E1-C40C04DB0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5CB73E-C615-4609-B6B0-8705436D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1150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F77BC49-0E62-4E32-BD2C-3903C48E2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8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251327B-33FC-4A9F-9C94-46A071BA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PROJECT CONTEXT（项目背景）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A16351-BBC7-4FF9-9438-6089F003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数据模型服务的是一个“实时社区”产品，而不是单一聊天室。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F8462C-D640-42A5-90B8-CEEEEB8F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495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A0223D-E1CD-48E4-8A2B-72A81E739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B843DC-EF71-408F-87D4-39864B072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422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身份与在线状态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BF4D32-F05A-45BD-B5BF-BA43D2B71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4229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用户注册登录、资料、头像、管理员角色、在线状态与心跳。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5B568E-0F15-4EFD-ACC0-F402EEF5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190750"/>
            <a:ext cx="4495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748AE3-B162-49B5-BEC7-10F2F0420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1907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0">
            <a:solidFill>
              <a:srgbClr val="1F8A8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A7721F-3DBB-48A1-8C84-54F022C6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24100"/>
            <a:ext cx="422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Group（群组）与频道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98F1B3-9C9A-4EB3-8F2C-B656F886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47950"/>
            <a:ext cx="4229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Group 拥有者、成员、文本频道、语音频道、频道人数限制。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84F34B-DD62-400B-BE0E-BBF2AF446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495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C7C6C4-0D06-4E0A-832B-D4F50F61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7B2"/>
          </a:solidFill>
          <a:ln xmlns:a="http://schemas.openxmlformats.org/drawingml/2006/main" w="0">
            <a:solidFill>
              <a:srgbClr val="3B67B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9894B0-C74D-4ECE-B1DA-F290434D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52850"/>
            <a:ext cx="422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消息与实时推送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A9FBAD-1202-4A9F-8157-8ABC15E6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76700"/>
            <a:ext cx="4229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频道消息和私信先落库，再由 WebSocket（实时长连接）推送，跨实例通过 Kafka fanout（事件广播分发）。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D3F1C0-3E79-48FE-B5CB-588DC96A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619500"/>
            <a:ext cx="4495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7C51A2-EE5A-4D5D-A5BA-9F4E208A0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6195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B2E"/>
          </a:solidFill>
          <a:ln xmlns:a="http://schemas.openxmlformats.org/drawingml/2006/main" w="0">
            <a:solidFill>
              <a:srgbClr val="C98B2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1CAF7A-14B1-4CEF-996B-117FF8408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52850"/>
            <a:ext cx="4229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好友与私信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1F2EF0-6C18-4653-A160-31A778419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76700"/>
            <a:ext cx="4229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好友申请、好友列表、非好友私信提示、双人私信会话。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FAEDE8-23CA-44E9-B8F8-339F67E4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819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讲 ER（实体关系）图时先分业务域，可以避免把表关系看成零散外键；每张表都对应一个稳定的产品概念或关系。</a:t>
            </a:r>
          </a:p>
        </p:txBody>
      </p:sp>
    </p:spTree>
    <p:extLst>
      <p:ext uri="{BB962C8B-B14F-4D97-AF65-F5344CB8AC3E}">
        <p14:creationId xmlns:p14="http://schemas.microsoft.com/office/powerpoint/2010/main" val="62645480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441D29-05D8-4E10-9F80-53524D3D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CB85E2-B869-444D-BF5B-1E75F7B0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1150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AC34C98-D5B2-42E1-83AA-BABABCF4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8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E586A85-94F0-48C2-A472-ABE149F6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ER OVERVIEW（ER 总览）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4AD93A-DC5C-4F65-8E2A-F7911F1C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ER 总览可以拆成四个业务域，User（用户）是所有关系的中心。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457E54-D8DF-4F5D-BEC4-E40F1BF5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790700"/>
            <a:ext cx="171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84A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F33F86-6A26-4CA9-91BB-FF5E2BE5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790700"/>
            <a:ext cx="1714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2F40C6-1579-4230-A107-BA6443C3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819275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USERS（用户）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8BCCA7-E897-4AAD-A448-48AA1653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105025"/>
            <a:ext cx="15430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 PK（主键）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email（邮箱） UK（唯一键）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username（用户名）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role（角色） / online（在线）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8DDFBD-8D40-4790-B0FC-79A0370A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562100"/>
            <a:ext cx="171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F8A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831A40-A066-429F-A494-06C65DC0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562100"/>
            <a:ext cx="1714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0">
            <a:solidFill>
              <a:srgbClr val="1F8A8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13B54D-9C3E-427E-A8A8-0EE8F262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590675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CHANNEL_GROUPS（群组）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AF8C8E-0E2B-42F4-8117-9E2F64FEC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1876425"/>
            <a:ext cx="1543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 PK（主键）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owner_id（拥有者） FK（外键）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invite_code（邀请码） UK（唯一键）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604F58-5F11-49F0-A922-662FA746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171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F8A8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95AB75-D68E-4106-B387-5A3F1495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1714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0">
            <a:solidFill>
              <a:srgbClr val="1F8A8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14B38A-453A-49D9-B086-4CF8889F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19425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CHANNELS（频道）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D413F7-F9AE-4C34-8A5B-3590B1FC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305175"/>
            <a:ext cx="1543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 PK（主键）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group_id（群组） FK（外键）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type（类型） / position（排序）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6BF26D-D511-4DE5-99FC-F6AB8227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19600"/>
            <a:ext cx="171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67B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148E6F-02E2-4BF7-A0BA-64CC41A6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19600"/>
            <a:ext cx="1714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7B2"/>
          </a:solidFill>
          <a:ln xmlns:a="http://schemas.openxmlformats.org/drawingml/2006/main" w="0">
            <a:solidFill>
              <a:srgbClr val="3B67B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DD2C77-9FFB-45C3-824F-F9D1A2220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48175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MESSAGES（消息）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6C8CCA-22CA-4C5C-8BD9-97B54BA3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733925"/>
            <a:ext cx="1543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 PK（主键）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sender_id（发送者） FK（外键）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channel_id（频道） FK（外键）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2EF290-3FC4-4DE7-ACB3-205A6FB6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43350"/>
            <a:ext cx="171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98B2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2A7296-CF6C-44FC-8129-3BD888E9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43350"/>
            <a:ext cx="1714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B2E"/>
          </a:solidFill>
          <a:ln xmlns:a="http://schemas.openxmlformats.org/drawingml/2006/main" w="0">
            <a:solidFill>
              <a:srgbClr val="C98B2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A55974-B6CB-4AB9-9194-02C686AE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971925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USER_GROUPS（用户群组）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6C2DC5-F166-40BA-A78F-AE300B16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257675"/>
            <a:ext cx="1543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user_id（用户） FK（外键）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group_id（群组） FK（外键）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role（角色）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D63075-ED63-4E96-B631-1B8E5D5A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43350"/>
            <a:ext cx="171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98B2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1C96DB-B642-4074-B59A-7A309E9B7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43350"/>
            <a:ext cx="1714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B2E"/>
          </a:solidFill>
          <a:ln xmlns:a="http://schemas.openxmlformats.org/drawingml/2006/main" w="0">
            <a:solidFill>
              <a:srgbClr val="C98B2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28BBAF-4AE6-4A97-BF35-79A51C9F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71925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USER_CHANNELS（用户频道）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297295-C8C7-4139-8156-DF2EA0C8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257675"/>
            <a:ext cx="1543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user_id（用户） FK（外键）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channel_id（频道） FK（外键）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D0AF6A-1809-4D0A-A787-ABEF73CE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238250"/>
            <a:ext cx="171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A8F5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2D1671-742C-43F8-BDE5-19C622AF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238250"/>
            <a:ext cx="1714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F55"/>
          </a:solidFill>
          <a:ln xmlns:a="http://schemas.openxmlformats.org/drawingml/2006/main" w="0">
            <a:solidFill>
              <a:srgbClr val="5A8F5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44212B-94EE-4B21-A23E-C1824A7C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266825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FRIEND_REQUESTS（好友申请）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6683B7-13B7-4CAD-89B6-0CFA8B54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552575"/>
            <a:ext cx="1543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requester_id（申请人） FK（外键）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addressee_id（接收人） FK（外键）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status（状态）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014DF5-E17C-4730-9AD5-94EF3054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647950"/>
            <a:ext cx="171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A8F5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17FEF69-F7FD-4412-8221-95F65388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647950"/>
            <a:ext cx="1714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F55"/>
          </a:solidFill>
          <a:ln xmlns:a="http://schemas.openxmlformats.org/drawingml/2006/main" w="0">
            <a:solidFill>
              <a:srgbClr val="5A8F5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1664FD-F70E-47D1-8CC0-D1594591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76525"/>
            <a:ext cx="1562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FRIENDSHIPS（好友关系）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07C8347-994C-4805-A402-59D1D816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962275"/>
            <a:ext cx="1543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user_id（用户） FK（外键）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friend_id（好友） FK（外键）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AA1C350-B4A4-404A-A79C-DAA4228C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95750"/>
            <a:ext cx="2190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67B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0877ED1-9B76-4A80-91B5-C2A9CA3E8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95750"/>
            <a:ext cx="2190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7B2"/>
          </a:solidFill>
          <a:ln xmlns:a="http://schemas.openxmlformats.org/drawingml/2006/main" w="0">
            <a:solidFill>
              <a:srgbClr val="3B67B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CA4ADA4-D16E-443F-8759-8A295689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24325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DIRECT_CONVERSATIONS（私信会话）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AC21BB7-63D3-4A5B-96DA-DD285ECAE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10075"/>
            <a:ext cx="2019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 PK（主键）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pair_key（会话唯一键） UK（唯一键）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last_message_at（最后消息时间）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1AE443B-C82A-438B-A224-C3FDF50C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305050"/>
            <a:ext cx="19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66708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BE2B225-7778-4DFE-8299-6711699A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33800"/>
            <a:ext cx="19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66708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729A19B-5F27-455B-8336-2B7DB0A6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53125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阅读顺序：先看 USERS，再看它与 Group/频道、好友、私信的连接；中间表负责多对多关系，消息表负责时间序列数据。</a:t>
            </a:r>
          </a:p>
        </p:txBody>
      </p:sp>
    </p:spTree>
    <p:extLst>
      <p:ext uri="{BB962C8B-B14F-4D97-AF65-F5344CB8AC3E}">
        <p14:creationId xmlns:p14="http://schemas.microsoft.com/office/powerpoint/2010/main" val="183752440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CFAD9C-4C7A-465C-89D3-881835D32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9525">
            <a:solidFill>
              <a:srgbClr val="F7F2E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973837-0FEC-4E88-B10A-D9529CBC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8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9525">
            <a:solidFill>
              <a:srgbClr val="C84A3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44A818-BBBE-4C56-9705-D7A3722B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FULL ER DIAGRAM（完整 ER 总图）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90CDFC-E5CF-4F0A-B694-D99DB4A9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952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完整 ER 总图把 12 张主业务表和四类关系放在同一张图里。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795F73-73D4-4766-B58D-75575B41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914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按业务域分区阅读：左侧是 Group（群组）/频道消息，右侧是好友与私信，中间 USERS（用户）是全模型枢纽。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88C32E-FC21-4D55-A049-F7371E7D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451485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09A101-5697-4323-B633-79A6175E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57350"/>
            <a:ext cx="451485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69CE88-B5E2-4128-AD10-4620FD14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657350"/>
            <a:ext cx="226695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F3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129831-729C-4EA2-A872-255F46CB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81200"/>
            <a:ext cx="161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4A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E04E68-E0B6-494C-9ABE-AFDFC273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812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9525">
            <a:solidFill>
              <a:srgbClr val="C84A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C264F6-D6FA-4339-B629-485D36957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009775"/>
            <a:ext cx="1504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USERS（用户）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9EB6B4-38AA-4F4C-AB2D-BA1B30D4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238375"/>
            <a:ext cx="14859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 PK（主键）</a:t>
            </a:r>
          </a:p>
          <a:p xmlns:a="http://schemas.openxmlformats.org/drawingml/2006/main">
            <a:pPr algn="l"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email（邮箱） UK（唯一键）</a:t>
            </a:r>
          </a:p>
          <a:p xmlns:a="http://schemas.openxmlformats.org/drawingml/2006/main">
            <a:pPr algn="l"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username（用户名）</a:t>
            </a:r>
          </a:p>
          <a:p xmlns:a="http://schemas.openxmlformats.org/drawingml/2006/main">
            <a:pPr algn="l"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role（角色） / online（在线）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9B1303-C976-4B87-B14F-9330E8A70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8A8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56E124-61A2-4140-82E6-5D22AA7B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9525">
            <a:solidFill>
              <a:srgbClr val="1F8A8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24FD20-9F72-4B9A-9B15-8E5671FA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95475"/>
            <a:ext cx="1504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CHANNEL_GROUPS（群组）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23EC3B-5C9C-4A5E-8FC4-1FF922DA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124075"/>
            <a:ext cx="14859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owner_id（拥有者） FK（外键）</a:t>
            </a:r>
          </a:p>
          <a:p xmlns:a="http://schemas.openxmlformats.org/drawingml/2006/main">
            <a:pPr algn="l"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invite_code（邀请码） UK（唯一键）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5E3A88-4AB4-48FE-AAC5-D6ED62D2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1619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8A8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6A52E8-BB8E-4920-9B2F-8DAA5E66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9525">
            <a:solidFill>
              <a:srgbClr val="1F8A8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5D42EA-33E5-4929-9598-9331C9A6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33725"/>
            <a:ext cx="1504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CHANNELS（频道）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8E6EC4-DDD4-4864-B076-C9325ACA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362325"/>
            <a:ext cx="14859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group_id（群组） FK（外键）</a:t>
            </a:r>
          </a:p>
          <a:p xmlns:a="http://schemas.openxmlformats.org/drawingml/2006/main">
            <a:pPr algn="l"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type（类型） / position（排序）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B1072F-0572-4ACC-9EFD-24B2E9AF4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1619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B67B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5719F1-F502-4F1F-B734-FD7D9649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7B2"/>
          </a:solidFill>
          <a:ln xmlns:a="http://schemas.openxmlformats.org/drawingml/2006/main" w="9525">
            <a:solidFill>
              <a:srgbClr val="3B67B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545B80-7A2D-4F99-8E3B-E1970638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91075"/>
            <a:ext cx="1504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MESSAGES（消息）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44EAD6-0D56-4A01-B9E7-21718FA8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019675"/>
            <a:ext cx="14859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sender_id（发送者） FK（外键）</a:t>
            </a:r>
          </a:p>
          <a:p xmlns:a="http://schemas.openxmlformats.org/drawingml/2006/main">
            <a:pPr algn="l"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channel_id（频道） FK（外键）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5CB169-384A-4E94-ACA2-2CDE73402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866900"/>
            <a:ext cx="1485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A8F5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929132-000E-49A8-BA04-28722134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866900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F55"/>
          </a:solidFill>
          <a:ln xmlns:a="http://schemas.openxmlformats.org/drawingml/2006/main" w="9525">
            <a:solidFill>
              <a:srgbClr val="5A8F5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0A27C7-21A2-4483-BF86-4CFFA4EB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95475"/>
            <a:ext cx="1371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GROUP_ROLES（群组角色）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626E13-A037-41BF-ADBD-804DC3730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124075"/>
            <a:ext cx="13525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group_id（群组） FK（外键）</a:t>
            </a:r>
          </a:p>
          <a:p xmlns:a="http://schemas.openxmlformats.org/drawingml/2006/main">
            <a:pPr algn="l"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name（名称） / position（排序）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26035C-3967-40EF-9839-4F892A4A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105150"/>
            <a:ext cx="1485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8B2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57476C-0D0E-416E-AE39-1DFA8D05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105150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B2E"/>
          </a:solidFill>
          <a:ln xmlns:a="http://schemas.openxmlformats.org/drawingml/2006/main" w="9525">
            <a:solidFill>
              <a:srgbClr val="C98B2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318003-C0FE-4B0A-AC0B-091C6EB3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133725"/>
            <a:ext cx="1371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USER_GROUPS（用户群组）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4DEA45-1CD2-4E75-9AD4-0F82571C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362325"/>
            <a:ext cx="13525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user_id（用户） FK（外键）</a:t>
            </a:r>
          </a:p>
          <a:p xmlns:a="http://schemas.openxmlformats.org/drawingml/2006/main">
            <a:pPr algn="l"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group_id（群组） FK（外键）</a:t>
            </a:r>
          </a:p>
          <a:p xmlns:a="http://schemas.openxmlformats.org/drawingml/2006/main">
            <a:pPr algn="l"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role（角色）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C3531E-716D-4BDD-B08F-93A14697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762500"/>
            <a:ext cx="1485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8B2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827ACB-8950-4DE9-A06D-DA0A9844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762500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B2E"/>
          </a:solidFill>
          <a:ln xmlns:a="http://schemas.openxmlformats.org/drawingml/2006/main" w="9525">
            <a:solidFill>
              <a:srgbClr val="C98B2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0E29DAB-7D22-4B2A-9D61-1A4330A0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791075"/>
            <a:ext cx="1371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USER_CHANNELS（用户频道）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79A668-B6B0-4B09-83CF-80F15B6D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5019675"/>
            <a:ext cx="13525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user_id（用户） FK（外键）</a:t>
            </a:r>
          </a:p>
          <a:p xmlns:a="http://schemas.openxmlformats.org/drawingml/2006/main">
            <a:pPr algn="l"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channel_id（频道） FK（外键）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4D9BB2B-F655-472C-8B39-896A486B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771650"/>
            <a:ext cx="16954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A8F5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A1C5731-4A05-47D6-ADDD-5D1A3028B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771650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F55"/>
          </a:solidFill>
          <a:ln xmlns:a="http://schemas.openxmlformats.org/drawingml/2006/main" w="9525">
            <a:solidFill>
              <a:srgbClr val="5A8F5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2425AED-9AFB-4AA0-A359-8794EB46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800225"/>
            <a:ext cx="1581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FRIEND_REQUESTS（好友申请）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F99D367-51E8-45F0-AE1E-67397FBF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028825"/>
            <a:ext cx="15621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requester_id（申请人） FK（外键）</a:t>
            </a:r>
          </a:p>
          <a:p xmlns:a="http://schemas.openxmlformats.org/drawingml/2006/main">
            <a:pPr algn="l"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addressee_id（接收人） FK（外键）</a:t>
            </a:r>
          </a:p>
          <a:p xmlns:a="http://schemas.openxmlformats.org/drawingml/2006/main">
            <a:pPr algn="l"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status（状态）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3D3B6AC-1F59-4397-B1ED-F44906F86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95600"/>
            <a:ext cx="1695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A8F5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91C197E-DAEF-4562-8462-A3B5ECDF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95600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F55"/>
          </a:solidFill>
          <a:ln xmlns:a="http://schemas.openxmlformats.org/drawingml/2006/main" w="9525">
            <a:solidFill>
              <a:srgbClr val="5A8F5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4365929-8D7B-4D46-949F-C4763BB8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924175"/>
            <a:ext cx="1581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FRIENDSHIPS（好友关系）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1A407BF-5ADD-42AB-89D8-DCE4BE85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152775"/>
            <a:ext cx="15621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user_id（用户） FK（外键）</a:t>
            </a:r>
          </a:p>
          <a:p xmlns:a="http://schemas.openxmlformats.org/drawingml/2006/main">
            <a:pPr algn="l"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friend_id（好友） FK（外键）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CAB63B2-E685-4082-91D1-E3127EC3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838450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B67B2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9AAC935-7908-4AFE-9199-28D0B8BA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8384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7B2"/>
          </a:solidFill>
          <a:ln xmlns:a="http://schemas.openxmlformats.org/drawingml/2006/main" w="9525">
            <a:solidFill>
              <a:srgbClr val="3B67B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FBB163D-107C-48E3-A74D-BE3EC444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67025"/>
            <a:ext cx="1695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DIRECT_CONVERSATIONS（私信会话）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E866AB3-CAB9-424A-B920-F662F3A1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095625"/>
            <a:ext cx="16764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 PK（主键）</a:t>
            </a:r>
          </a:p>
          <a:p xmlns:a="http://schemas.openxmlformats.org/drawingml/2006/main">
            <a:pPr algn="l"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pair_key（会话唯一键） UK（唯一键）</a:t>
            </a:r>
          </a:p>
          <a:p xmlns:a="http://schemas.openxmlformats.org/drawingml/2006/main">
            <a:pPr algn="l"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last_message_at（最后消息时间）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D697C35-E382-4EAE-8087-19CF5116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762500"/>
            <a:ext cx="194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8B2E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4041DEB-9BD0-44D6-9FE5-5DC276BC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762500"/>
            <a:ext cx="1943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B2E"/>
          </a:solidFill>
          <a:ln xmlns:a="http://schemas.openxmlformats.org/drawingml/2006/main" w="9525">
            <a:solidFill>
              <a:srgbClr val="C98B2E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043ADBC-9222-4DFE-BE70-9B09A3F37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791075"/>
            <a:ext cx="1828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DIRECT_CONVERSATION_MEMBERS（会话成员）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55BF467-AB70-45A9-943D-AC4E7651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019675"/>
            <a:ext cx="1809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direct_conversation_id（会话） FK（外键）</a:t>
            </a:r>
          </a:p>
          <a:p xmlns:a="http://schemas.openxmlformats.org/drawingml/2006/main">
            <a:pPr algn="l"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user_id（用户） FK（外键）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ED0EE6B-12D3-4A2B-B6C9-4C91794D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762500"/>
            <a:ext cx="180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B67B2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D343229-BB60-4E98-AEE2-D73F65A1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76250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7B2"/>
          </a:solidFill>
          <a:ln xmlns:a="http://schemas.openxmlformats.org/drawingml/2006/main" w="9525">
            <a:solidFill>
              <a:srgbClr val="3B67B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705CE16-888F-4F13-953B-915F7FAE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791075"/>
            <a:ext cx="1695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DIRECT_MESSAGES（私信消息）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B7A39B4-8A8D-4FC3-BAB8-41123C68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5019675"/>
            <a:ext cx="16764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conversation_id（会话） FK（外键）</a:t>
            </a:r>
          </a:p>
          <a:p xmlns:a="http://schemas.openxmlformats.org/drawingml/2006/main">
            <a:pPr algn="l">
              <a:defRPr sz="61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61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sender_id（发送者） FK（外键）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9E97DFA-5CCA-4DF2-95B8-F9EF4FB0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8A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8A8A"/>
                </a:solidFill>
                <a:latin typeface="Aptos"/>
                <a:ea typeface="Aptos"/>
                <a:cs typeface="Aptos"/>
              </a:rPr>
              <a:t>Group（群组） / 频道 / 消息域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0016B57-F5AD-4EA8-81A2-EBD26311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48590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用户中心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6FD39C8-050B-4939-8BDD-CA13645A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4859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A8F5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A8F55"/>
                </a:solidFill>
                <a:latin typeface="Aptos"/>
                <a:ea typeface="Aptos"/>
                <a:cs typeface="Aptos"/>
              </a:rPr>
              <a:t>好友 / 私信域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B9567A4-607D-4255-A747-27753FF05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09800"/>
            <a:ext cx="857250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9525">
            <a:solidFill>
              <a:srgbClr val="C84A3A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D5E0C75-B6E0-4C65-8A3B-1747F44E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7645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C84A3A"/>
                </a:solidFill>
                <a:latin typeface="Aptos"/>
                <a:ea typeface="Aptos"/>
                <a:cs typeface="Aptos"/>
              </a:rPr>
              <a:t>owns（拥有）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E291A52-9D55-499F-8682-24430438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429000"/>
            <a:ext cx="857250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B2E"/>
          </a:solidFill>
          <a:ln xmlns:a="http://schemas.openxmlformats.org/drawingml/2006/main" w="9525">
            <a:solidFill>
              <a:srgbClr val="C98B2E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347B704-0881-4601-8610-0418630F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9565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C98B2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C98B2E"/>
                </a:solidFill>
                <a:latin typeface="Aptos"/>
                <a:ea typeface="Aptos"/>
                <a:cs typeface="Aptos"/>
              </a:rPr>
              <a:t>joins（加入）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456FB96-806F-4FAE-BC07-0C2327D5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067300"/>
            <a:ext cx="857250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B2E"/>
          </a:solidFill>
          <a:ln xmlns:a="http://schemas.openxmlformats.org/drawingml/2006/main" w="9525">
            <a:solidFill>
              <a:srgbClr val="C98B2E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AEAA736-D385-49DE-9315-9B736031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93395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C98B2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C98B2E"/>
                </a:solidFill>
                <a:latin typeface="Aptos"/>
                <a:ea typeface="Aptos"/>
                <a:cs typeface="Aptos"/>
              </a:rPr>
              <a:t>active（活跃）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91924FB-1246-424F-BCA7-352B6141E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05025"/>
            <a:ext cx="895350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F55"/>
          </a:solidFill>
          <a:ln xmlns:a="http://schemas.openxmlformats.org/drawingml/2006/main" w="9525">
            <a:solidFill>
              <a:srgbClr val="5A8F5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8EF7B02-999B-4D12-B838-9081F5E0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971675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5A8F5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A8F55"/>
                </a:solidFill>
                <a:latin typeface="Aptos"/>
                <a:ea typeface="Aptos"/>
                <a:cs typeface="Aptos"/>
              </a:rPr>
              <a:t>requests（申请）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B7B7B4B-9EF5-4519-84E2-D05E2C60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90875"/>
            <a:ext cx="895350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F55"/>
          </a:solidFill>
          <a:ln xmlns:a="http://schemas.openxmlformats.org/drawingml/2006/main" w="9525">
            <a:solidFill>
              <a:srgbClr val="5A8F5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0F00111-F533-4A57-B640-96AE03B4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057525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5A8F5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A8F55"/>
                </a:solidFill>
                <a:latin typeface="Aptos"/>
                <a:ea typeface="Aptos"/>
                <a:cs typeface="Aptos"/>
              </a:rPr>
              <a:t>friends（好友）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70C899E-5A6E-400B-9932-036D8A666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067300"/>
            <a:ext cx="895350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B2E"/>
          </a:solidFill>
          <a:ln xmlns:a="http://schemas.openxmlformats.org/drawingml/2006/main" w="9525">
            <a:solidFill>
              <a:srgbClr val="C98B2E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52FC309-C3C7-45E8-8149-241081CB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93395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C98B2E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C98B2E"/>
                </a:solidFill>
                <a:latin typeface="Aptos"/>
                <a:ea typeface="Aptos"/>
                <a:cs typeface="Aptos"/>
              </a:rPr>
              <a:t>member（成员）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3518C1B-EA28-49F8-9C19-60D7622D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533650"/>
            <a:ext cx="1714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9525">
            <a:solidFill>
              <a:srgbClr val="1F8A8A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E7907AE-056C-4D9E-8C82-4765F862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71775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F8A8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F8A8A"/>
                </a:solidFill>
                <a:latin typeface="Aptos"/>
                <a:ea typeface="Aptos"/>
                <a:cs typeface="Aptos"/>
              </a:rPr>
              <a:t>contains（包含）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4344BEC-EB66-4919-B7F5-398DE438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752850"/>
            <a:ext cx="1714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7B2"/>
          </a:solidFill>
          <a:ln xmlns:a="http://schemas.openxmlformats.org/drawingml/2006/main" w="9525">
            <a:solidFill>
              <a:srgbClr val="3B67B2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D67204E-9C56-44EC-B85E-F319C6E75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2910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3B67B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3B67B2"/>
                </a:solidFill>
                <a:latin typeface="Aptos"/>
                <a:ea typeface="Aptos"/>
                <a:cs typeface="Aptos"/>
              </a:rPr>
              <a:t>has（拥有）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33CE24A-E390-4CC8-B386-5AB4C6C4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171700"/>
            <a:ext cx="457200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F55"/>
          </a:solidFill>
          <a:ln xmlns:a="http://schemas.openxmlformats.org/drawingml/2006/main" w="9525">
            <a:solidFill>
              <a:srgbClr val="5A8F5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B19E2F0-9C3A-4907-9407-2A49ABE3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03835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5A8F5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A8F55"/>
                </a:solidFill>
                <a:latin typeface="Aptos"/>
                <a:ea typeface="Aptos"/>
                <a:cs typeface="Aptos"/>
              </a:rPr>
              <a:t>roles（角色）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BFE4DE6-78D3-4B63-9992-A4D097B3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29000"/>
            <a:ext cx="457200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B2E"/>
          </a:solidFill>
          <a:ln xmlns:a="http://schemas.openxmlformats.org/drawingml/2006/main" w="9525">
            <a:solidFill>
              <a:srgbClr val="C98B2E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1DFC1A9-1E12-4714-96E2-74C40EB3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067300"/>
            <a:ext cx="457200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B2E"/>
          </a:solidFill>
          <a:ln xmlns:a="http://schemas.openxmlformats.org/drawingml/2006/main" w="9525">
            <a:solidFill>
              <a:srgbClr val="C98B2E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6296D7A-A599-461C-AF6D-0DFA280F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90875"/>
            <a:ext cx="419100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7B2"/>
          </a:solidFill>
          <a:ln xmlns:a="http://schemas.openxmlformats.org/drawingml/2006/main" w="9525">
            <a:solidFill>
              <a:srgbClr val="3B67B2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C6E6E97-337D-41F3-9FE4-D5324E40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28950"/>
            <a:ext cx="74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3B67B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3B67B2"/>
                </a:solidFill>
                <a:latin typeface="Aptos"/>
                <a:ea typeface="Aptos"/>
                <a:cs typeface="Aptos"/>
              </a:rPr>
              <a:t>pair_key（会话唯一键）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B2FE897-50C5-43E5-8C29-F8AFC105B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067300"/>
            <a:ext cx="171450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7B2"/>
          </a:solidFill>
          <a:ln xmlns:a="http://schemas.openxmlformats.org/drawingml/2006/main" w="9525">
            <a:solidFill>
              <a:srgbClr val="3B67B2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A0DD7B4-8E75-42EF-8910-D163864F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3486150"/>
            <a:ext cx="17145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7B2"/>
          </a:solidFill>
          <a:ln xmlns:a="http://schemas.openxmlformats.org/drawingml/2006/main" w="9525">
            <a:solidFill>
              <a:srgbClr val="3B67B2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E5C595A-93D7-40D9-84DE-7E88C5A8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19450"/>
            <a:ext cx="1619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4A3A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59AC17A-67B4-4486-868E-DDF899BA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3337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读图规则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3B392F8-D776-44AE-98BE-429F1E73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581400"/>
            <a:ext cx="1333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实体表存对象</a:t>
            </a:r>
          </a:p>
          <a:p xmlns:a="http://schemas.openxmlformats.org/drawingml/2006/main">
            <a:pPr algn="ctr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中间表存多对多</a:t>
            </a:r>
          </a:p>
          <a:p xmlns:a="http://schemas.openxmlformats.org/drawingml/2006/main">
            <a:pPr algn="ctr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消息表存时间序列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21B169B-FDE0-41D0-ABB1-379F02F40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所有表默认包含 created_at（创建时间） / updated_at（更新时间） / deleted_at（删除时间）；deleted_at（删除时间）支撑撤回、软删除和审计。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FEA0181-43F8-4912-B06F-A2DF43DD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1150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0272316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EDE4B5-43BC-4052-9C2D-3CF91DB2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7EB35C-CA86-4060-B72F-E6925B7C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1150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252E6AA-6D62-4563-A6FA-07C5D0C3D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8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5FED999-A3A4-476B-A7BC-2AC65F94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CORE ENTITIES（核心实体）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FD4081-71DE-4C1D-89FB-41BA9C24E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核心实体表记录“对象本身”，关系表记录“对象之间如何连接”。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03FEF0-34F9-498F-85E5-C89CA45D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2038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82D4C2-9699-4236-AAC0-CD34F6DB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1885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5B4789-2232-4A7B-BF0D-F8FA0251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924050"/>
            <a:ext cx="276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5C9F94-3612-4992-A441-AA3D9151A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981200"/>
            <a:ext cx="2609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主键 / 关键字段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1319D1-B186-4C1E-8067-31C18A30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9240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5E10D9-6921-4013-B71F-B678BF70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981200"/>
            <a:ext cx="3276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业务含义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A9BF12-1E7B-42CC-83DC-2F05F4B1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240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CA4A08-0403-4C34-BB5F-754FA976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981200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约束重点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EC12A1-8EB1-4F0C-AD54-FE421208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38400"/>
            <a:ext cx="2038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57F7A7-71CD-4024-8446-ADE302B2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1885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USERS（用户）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064B77-0B5A-4317-AF17-E7090DB0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438400"/>
            <a:ext cx="276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125B0F-DBB6-41DC-B1C0-BAA0F6CA5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95550"/>
            <a:ext cx="2609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id；email（邮箱）；role（角色）；is_online（在线）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1AF8D0-B072-4CA3-A07A-E2EE0852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384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743C50-CEF9-4674-ACFC-484490493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495550"/>
            <a:ext cx="3276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系统账号、资料、头像、在线状态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4D3572-36ED-4171-86A8-6769BC4B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3840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E05CDA-A6BB-4864-ADAF-94396F27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95550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email（邮箱）唯一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D0CEC2-B1DF-4752-8138-74B75F5F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2038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B16A4F-2D8E-4B98-BBF7-ECCA91BC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1885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CHANNEL_GROUPS（群组）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AFD9C1-28BC-489F-B689-CD926902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952750"/>
            <a:ext cx="276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A8DFC1-F5FB-442D-9CD7-605F6B7A4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09900"/>
            <a:ext cx="2609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id；owner_id（拥有者）；invite_code（邀请码）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9C9931-48AE-4CD3-88D7-107B2FD7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9527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9F3F53-06CE-48D4-A84D-3B07BC7F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009900"/>
            <a:ext cx="3276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类似服务器/群组，是频道集合的容器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63C420-104B-420F-A6EF-E69C52E53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527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171DC7-8A55-4F41-B71A-B79ECC4A2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09900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invite_code（邀请码）唯一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A803C6-5995-43ED-8A6F-D666EA91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67100"/>
            <a:ext cx="2038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FF9259-6FB4-4B2D-A8F0-DE96BA1C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1885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CHANNELS（频道）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A3B4BE-1956-4F74-B3B4-AA5544EA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67100"/>
            <a:ext cx="276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F48A3C-A486-487B-B662-1C13A065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524250"/>
            <a:ext cx="2609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id；group_id（群组）；type（类型）；position（排序）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E0B228-348A-4242-A232-B6A6FE5C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4671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024D72-DBC8-40B5-830D-D53A8484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524250"/>
            <a:ext cx="3276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文本频道或语音频道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A08C46-58CB-48D4-8F72-0663B9ED0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6710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F47A34E-84C1-4A4A-B220-D2F99151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524250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隶属于一个 Group（群组）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512AF38-D4FA-4238-AD4F-65B9EB85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81450"/>
            <a:ext cx="2038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36B5789-6355-469E-8329-A63AB77C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38600"/>
            <a:ext cx="1885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MESSAGES（消息）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F059EDD-4DFF-4C0A-AB14-D09C15AD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981450"/>
            <a:ext cx="276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ABFCBD4-4203-4134-A671-393651B70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038600"/>
            <a:ext cx="2609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id；sender_id（发送者）；channel_id（频道）；content（内容）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7E6C3D7-FE1D-4397-AB67-9F3790A6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9814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115924A-D82C-4F91-A9B9-347A647E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038600"/>
            <a:ext cx="3276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频道聊天消息历史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7D847A4-6043-4078-92CC-1C568ED6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814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6FF30F0-E437-4D20-A416-B8EFC823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38600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发送者与频道均为外键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97B4D20-CA48-4510-878E-A24B0972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95800"/>
            <a:ext cx="2038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0BB4409-E8DA-4E4D-B055-68326D9F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1885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GROUP_ROLES（群组角色）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AE22DE6-B2C6-48B4-B842-C6E73518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495800"/>
            <a:ext cx="276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6AB1E65-4DCC-4412-8EC0-0D83AFCA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552950"/>
            <a:ext cx="2609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id；group_id（群组）；name（名称）；position（排序）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3739090-0C58-4CD9-BB99-95C478C3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4958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6BA6C1B-2F6A-4798-98F7-B628593C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552950"/>
            <a:ext cx="3276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Group（群组）内身份组和权限排序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F027C87-25EB-4A02-A167-3EE69802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49580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794AB77-1981-4852-A2E3-18DE8539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552950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同一 Group（群组）下定义角色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74CC3A6-CC0F-4E45-B823-4F3BAFD0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24550"/>
            <a:ext cx="885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README（项目说明）说明：带 gorm.Model（GORM 模型基类）的表都包含 id、created_at、updated_at、deleted_at，其中 deleted_at（删除时间）用于软删除。</a:t>
            </a:r>
          </a:p>
        </p:txBody>
      </p:sp>
    </p:spTree>
    <p:extLst>
      <p:ext uri="{BB962C8B-B14F-4D97-AF65-F5344CB8AC3E}">
        <p14:creationId xmlns:p14="http://schemas.microsoft.com/office/powerpoint/2010/main" val="184387847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7C87A7-3F21-4E3F-8C57-BA260EDE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EB943F-DE4C-479A-92DB-72BDD455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1150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4AC4CEF-E1A0-4809-974B-A02CBF783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8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F0E90BC-936F-412F-A0F1-BACC1DD0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RELATIONAL SCHEMA（关系模式）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E45A59-8B3A-49DB-9D78-715443B9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关系模式写法：先列属性，再明确主键、外键与唯一约束。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BDDF90-E1C8-4348-BF32-FB5118E5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2266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0504AB-DB58-43B7-9FF1-593B5A22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关系模式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3E1D91-C74C-490B-B956-B6045F96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733550"/>
            <a:ext cx="6400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8F199E-F8DF-4B5C-A787-05762FBB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790700"/>
            <a:ext cx="6248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属性结构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725C2F-0F03-4AB9-A80C-5CCA599A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7335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770557-7DAD-4F2D-9801-A33F73FA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7907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关键约束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80B0AD-A6FE-4E08-B43B-D1177BC58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71700"/>
            <a:ext cx="2266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0C8B2F-01B2-4C7A-BBB3-2DF06931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288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USERS（用户）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A04ED7-5C4A-4553-A23B-67E4652D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171700"/>
            <a:ext cx="6400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2490E3-D868-42C7-959D-69DE41D7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228850"/>
            <a:ext cx="6248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(id, username（用户名）, email（邮箱）, password（密码）, avatar（头像）, avatar_url（头像地址）, role（角色）, bio（简介）, last_seen（最后在线）, is_online（在线）, ...)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A3275D-B7A5-48F5-8737-F3FC99C7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1717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F66F85-A97C-44E3-A839-77CD81AE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22885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PK（主键）: id；UK（唯一键）: email（邮箱）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32B72A-0A2A-48AF-AE56-09028D34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9850"/>
            <a:ext cx="2266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7E51AD-DCF3-4E06-B0F7-FA5F80E1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CHANNEL_GROUPS（群组）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68D728-B9BC-4B0A-AE97-38D6D516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609850"/>
            <a:ext cx="6400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A6B86D-EAAA-40C6-9325-7D19C196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667000"/>
            <a:ext cx="6248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(id, name（名称）, description（描述）, icon（图标）, owner_id（拥有者）, invite_code（邀请码）, ...)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CBEC9B-C603-4B5D-A8FF-3D43E2ED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6098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93A896-89E8-47B3-A14C-60789106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670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PK（主键）: id；FK（外键）: owner_id（拥有者）；UK（唯一键）: invite_code（邀请码）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924A24-44A6-4BA4-B727-86523F94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0"/>
            <a:ext cx="2266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B485FB-A4BF-4877-8844-08BCD02C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CHANNELS（频道）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C26CED-23F6-40A8-9E91-02D4C204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48000"/>
            <a:ext cx="6400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6B8F12-292A-444C-885D-D4E07553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105150"/>
            <a:ext cx="6248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(id, name（名称）, type（类型）, description（描述）, group_id（群组）, position（排序）, created_by（创建者）, max_members（人数上限）, ...)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BEB817-0FC2-47E6-8A0A-D258FDF7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480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F91490-BA41-41E6-A766-2C015E17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0515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PK（主键）: id；FK（外键）: group_id（群组）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61FB30-B835-4CE3-9EA8-44375BAC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2266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E60E92-10D5-4BD3-A53D-1785FCF1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MESSAGES（消息）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CDF3FE-9017-4393-B4EF-5266C00F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486150"/>
            <a:ext cx="6400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900D55-7A62-4959-BEB7-AE5F7193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543300"/>
            <a:ext cx="6248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(id, content（内容）, sender_id（发送者）, channel_id（频道）, created_at（创建时间）, updated_at（更新时间）, deleted_at（删除时间）)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6C4436-9C87-4ECC-A896-E42C574C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4861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2E5666-99B2-4A81-9F21-25674AD1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5433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PK（主键）: id；FK（外键）: sender_id（发送者）, channel_id（频道）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D84303-EBE2-439A-90D3-45DACD8E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24300"/>
            <a:ext cx="2266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F34C2F5-19CD-41E1-9003-9061A4A1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GROUP_ROLES（群组角色）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125FA5F-5CB3-4B46-A8D8-CBAFF612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924300"/>
            <a:ext cx="6400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11CE7E7-0EEF-4920-8C70-C49D717D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981450"/>
            <a:ext cx="6248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(id, group_id（群组）, name（名称）, description（描述）, color（颜色）, position（排序）, is_default（默认）, is_system（系统）, ...)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83BDA8C-CC86-4EBC-905A-00746E1B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9243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2C8F17F-F0C3-4CAC-8231-DAA1FEDC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98145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PK（主键）: id；FK（外键）: group_id（群组）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141BA78-34B6-46AD-A5EF-F27A231B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857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这里的省略号表示 GORM（Go ORM 框架）公共审计字段。讲解时重点不是背字段，而是说明每个外键把哪两个业务对象连起来。</a:t>
            </a:r>
          </a:p>
        </p:txBody>
      </p:sp>
    </p:spTree>
    <p:extLst>
      <p:ext uri="{BB962C8B-B14F-4D97-AF65-F5344CB8AC3E}">
        <p14:creationId xmlns:p14="http://schemas.microsoft.com/office/powerpoint/2010/main" val="122147188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0FE918-CE84-4DD8-8795-96C42021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A85E95-FA10-4D20-A871-91361E70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1150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F54CD6B-EE7F-45B6-A6F8-FAFEB123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8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2118038-14AA-42E2-B75F-7E450B80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GROUP + CHANNEL（群组与频道）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8BDA09-88A1-4288-9AF1-DA670BAC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Group（群组）到频道是层级关系，用户加入 Group（群组）后再进入具体频道。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21B015-F3A0-4E7E-AEA8-A0F6DDBF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1809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84A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3801E0-3138-436E-BBF2-ABB037BD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1809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97C09D-BD93-452E-85B5-0AC1D36E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95525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USERS（用户）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24AC00-38B3-4BDE-B1A6-484DE1267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581275"/>
            <a:ext cx="1638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 PK（主键）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username（用户名）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role（角色）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56C420-208A-49E7-AF3D-9880AF58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25730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F8A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862CD2-E7E5-46A4-9DB4-15D28986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257300"/>
            <a:ext cx="2000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0">
            <a:solidFill>
              <a:srgbClr val="1F8A8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661D2C-99E1-4C52-94B9-D2462823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285875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CHANNEL_GROUPS（群组）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C60E5A-E2D9-4519-8407-423B4B331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571625"/>
            <a:ext cx="1828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 PK（主键）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owner_id（拥有者） FK（外键）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invite_code（邀请码） UK（唯一键）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504BBB-DC00-4916-A8AF-D5414150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257300"/>
            <a:ext cx="1809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F8A8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32EDB1-2739-4279-808F-143FBAC0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257300"/>
            <a:ext cx="1809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0">
            <a:solidFill>
              <a:srgbClr val="1F8A8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4712C9-AC5B-4EED-A24B-27E5F884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285875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CHANNELS（频道）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BB34DD-64C0-4054-9E44-C717505D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1571625"/>
            <a:ext cx="1638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 PK（主键）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group_id（群组） FK（外键）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type（类型）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1E2C09-ED28-4267-A665-AA89E313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57550"/>
            <a:ext cx="1952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98B2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33ADBF-8689-4DC7-9668-27FFB041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57550"/>
            <a:ext cx="1952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B2E"/>
          </a:solidFill>
          <a:ln xmlns:a="http://schemas.openxmlformats.org/drawingml/2006/main" w="0">
            <a:solidFill>
              <a:srgbClr val="C98B2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16E200-5472-4E98-BEA3-D6B1E486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86125"/>
            <a:ext cx="18002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USER_GROUPS（用户群组）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0302C8-E880-41A8-A643-07B00D4D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571875"/>
            <a:ext cx="17811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user_id（用户） FK（外键）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group_id（群组） FK（外键）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role（角色）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FF9D73-40F8-4D6B-8770-133600DF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57550"/>
            <a:ext cx="1952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98B2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D97A35-485B-4610-A025-E5A6AB1B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57550"/>
            <a:ext cx="1952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B2E"/>
          </a:solidFill>
          <a:ln xmlns:a="http://schemas.openxmlformats.org/drawingml/2006/main" w="0">
            <a:solidFill>
              <a:srgbClr val="C98B2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80C667-73EC-40DD-A111-8C90CDA7C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86125"/>
            <a:ext cx="18002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USER_CHANNELS（用户频道）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AA19AD-F9B6-4DD3-A20E-4F963BE5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571875"/>
            <a:ext cx="17811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user_id（用户） FK（外键）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channel_id（频道） FK（外键）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BBB5A0-B139-4733-B73D-B26F4502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66950"/>
            <a:ext cx="1809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A8F5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50F691-454E-4241-BE65-807048CC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66950"/>
            <a:ext cx="1809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F55"/>
          </a:solidFill>
          <a:ln xmlns:a="http://schemas.openxmlformats.org/drawingml/2006/main" w="0">
            <a:solidFill>
              <a:srgbClr val="5A8F5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20D1E7-B5F5-478C-981B-37C77F98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95525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GROUP_ROLES（群组角色）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109A80-7660-4BFF-9F66-459321AD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581275"/>
            <a:ext cx="1638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group_id（群组） FK（外键）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name（名称）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is_default（默认）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838AC0-1695-4FFD-A3BE-5E062B53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76450"/>
            <a:ext cx="190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66708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D7DCEB-82F3-4BC6-8EE3-AC6D1AFC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676400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66708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040CA3-8F57-4698-8F9C-B886D060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76450"/>
            <a:ext cx="190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66708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DD8728-813E-4CF6-8BF7-FF23459D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0125"/>
            <a:ext cx="4762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C13284-0C2F-46E5-8716-8056D1ADB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0125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A15F03-A9FD-494F-8120-D14BEB36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43475"/>
            <a:ext cx="4495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关系解读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48F985D-27BE-4635-B8FC-50CC298C7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267325"/>
            <a:ext cx="449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USERS（用户）与 CHANNEL_GROUPS（群组）是多对多，因此拆成 USER_GROUPS（用户群组）；USERS（用户）与 CHANNELS（频道）的活跃状态也用 USER_CHANNELS（用户频道）表达。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FC6048-FDCA-4F33-9C97-1FEC79D1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810125"/>
            <a:ext cx="37338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9FE5F2F-B50A-454B-B805-0F9A17625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810125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0">
            <a:solidFill>
              <a:srgbClr val="1F8A8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BDA219A-D99C-4660-866D-45D035CF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43475"/>
            <a:ext cx="3467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为什么不直接写在用户表？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D7130D0-931A-4AFD-A03D-0CDF6E8C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267325"/>
            <a:ext cx="3467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一个用户可加入多个 Group（群组）/频道；一个 Group（群组）/频道也有多个用户，直接存数组会破坏关系模型。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85FF98C-FA50-497D-9A23-2C7D8498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19800"/>
            <a:ext cx="800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关系模式：USER_GROUPS（用户群组）(id, user_id, group_id, role, ...)，USER_CHANNELS（用户频道）(id, user_id, channel_id, ...)。</a:t>
            </a:r>
          </a:p>
        </p:txBody>
      </p:sp>
    </p:spTree>
    <p:extLst>
      <p:ext uri="{BB962C8B-B14F-4D97-AF65-F5344CB8AC3E}">
        <p14:creationId xmlns:p14="http://schemas.microsoft.com/office/powerpoint/2010/main" val="94868665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8D47E4-3E4C-478B-93EE-1C373BD4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3E3D29-DAC0-4CE7-AF5A-B9C68469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1150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994E6D4-7C29-49AA-94AA-C7E7A6923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8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76CFABE-39B0-4774-AC91-1F614A3E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MESSAGE FLOW（消息流）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F71A36-27FA-4A5C-84C9-3168C618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消息表把“谁发的、发到哪、发了什么”拆成清晰外键。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B62850-3758-467D-9E00-FC6C4AEB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7170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C84A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F54CEC-93E2-4336-942A-9DAB430CC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71700"/>
            <a:ext cx="1809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968353-E2E5-4C14-9E8F-4964E87C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00275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USERS（用户）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1CA0B4-DF72-4DB6-8A02-C2A447AFC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486025"/>
            <a:ext cx="1638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 PK（主键）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username（用户名）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avatar_url（头像地址）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6C1A13-B6A6-4DDD-A9CE-22258B52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7170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B67B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37E81A-902E-4682-B4AD-4F3FD693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71700"/>
            <a:ext cx="2000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7B2"/>
          </a:solidFill>
          <a:ln xmlns:a="http://schemas.openxmlformats.org/drawingml/2006/main" w="0">
            <a:solidFill>
              <a:srgbClr val="3B67B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7537CB-C8AB-4B87-98C1-79FFE758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200275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MESSAGES（消息）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A8C24C-A991-423F-B3A2-FAB1DD03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486025"/>
            <a:ext cx="1828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 PK（主键）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content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sender_id（发送者） FK（外键）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channel_id（频道） FK（外键）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070CF2-8CE5-4CB1-955A-B5428408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7170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F8A8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E8B32E-607C-44D3-8570-7D78CF41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71700"/>
            <a:ext cx="1809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0">
            <a:solidFill>
              <a:srgbClr val="1F8A8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F09D37-6462-410E-A481-6678969E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00275"/>
            <a:ext cx="1657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CHANNELS（频道）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D808BE-5BEC-445B-AE8E-1B3D17419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486025"/>
            <a:ext cx="1638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id PK（主键）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group_id（群组） FK（外键）</a:t>
            </a:r>
          </a:p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type=text（文本）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2690AD-6AA1-4229-AC86-D29A5BA2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09850"/>
            <a:ext cx="190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66708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DE25AF-7282-4F18-BD57-95C20DF0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09850"/>
            <a:ext cx="190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66708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DF654B-2BAB-4693-8E36-9CE50800C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4315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sends（发送）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5E026C-AED2-4507-8FF8-9FDE0CEF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431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belongs to（属于）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C65D2B-3E92-4E03-AB95-2B45FE16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71950"/>
            <a:ext cx="304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3D0FED-BA2B-4FC3-88DB-4381D9958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719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7B2"/>
          </a:solidFill>
          <a:ln xmlns:a="http://schemas.openxmlformats.org/drawingml/2006/main" w="0">
            <a:solidFill>
              <a:srgbClr val="3B67B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751B12-C2F5-497F-B66E-340DA233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05300"/>
            <a:ext cx="2781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落库优先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196D34-9FCF-4484-9EAC-0E30FDEB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781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频道消息和私信都先写入数据库，刷新后仍能恢复历史。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740B75-BF04-4332-BAB2-02CC17F1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71950"/>
            <a:ext cx="304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8E2CCC-D7E8-4EA9-9925-A4ED92C06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719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0">
            <a:solidFill>
              <a:srgbClr val="1F8A8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43F472-687D-4301-BD72-0146AE1A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05300"/>
            <a:ext cx="2781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实时推送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AB5CCE-06FB-4F5C-A905-A86367DB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629150"/>
            <a:ext cx="2781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写库后通过 WebSocket（实时长连接）推送；多实例下 Kafka/Redpanda（事件总线）做事件 fanout（广播分发）。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2EF2EE-6F4A-43F5-A28E-D3E481C7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71950"/>
            <a:ext cx="304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8F02CB-3B3C-4A56-9D99-0B586DDC9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719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2F4EDA-5F6A-4F24-80C8-39136979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05300"/>
            <a:ext cx="2781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软删除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B778E7-9D02-44CD-866B-56BE7A01E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629150"/>
            <a:ext cx="2781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撤回等场景依赖 deleted_at（删除时间），前端刷新后不会再展示已撤回消息。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24B1A3-7F33-4FCA-AE91-940E6BC7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905500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频道消息关系模式：MESSAGES（消息）(id, content（内容）, sender_id（发送者）, channel_id（频道）, created_at（创建时间）, updated_at（更新时间）, deleted_at（删除时间）)。</a:t>
            </a:r>
          </a:p>
        </p:txBody>
      </p:sp>
    </p:spTree>
    <p:extLst>
      <p:ext uri="{BB962C8B-B14F-4D97-AF65-F5344CB8AC3E}">
        <p14:creationId xmlns:p14="http://schemas.microsoft.com/office/powerpoint/2010/main" val="17330021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EED11B-3865-4779-B84F-C777E7E4D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375ADD-E03C-4443-82DF-12AF74C1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1150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03C14C2-5D20-4510-95ED-8B684467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8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06586B4-4A13-4D51-829A-BFA2B7AA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FRIENDS + DM（好友与私信）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157AE5-D83B-4CC7-89B4-A7C5C4FB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好友与私信分开建模：关系状态不等于聊天会话。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C774EA-FCDF-43E7-BB08-EF7D1B81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2428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7E7F8E-E097-4270-B0A3-6BD91E2E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2276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关系模式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3D2EAF-8072-43D9-B32D-CBE855D4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1695450"/>
            <a:ext cx="4810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C8EFC5-45C2-4A73-BB39-BEE09F1FC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52600"/>
            <a:ext cx="46577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属性结构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51243D-22D6-4166-9224-2BA0FAA0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69545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7781C5-949E-4FF4-92AC-7BC9F371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752600"/>
            <a:ext cx="2324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说明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00E7A5-3170-475B-8288-82A9BBED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33600"/>
            <a:ext cx="2428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8C7D0D-86A1-4188-83A2-8E0C9D33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2276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FRIEND_REQUESTS（好友申请）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DC1FA4-C6CA-4BF3-B00C-64BD3D40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133600"/>
            <a:ext cx="4810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1FF36D-D8CD-4BF3-84B5-37F78B6E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90750"/>
            <a:ext cx="46577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(id, requester_id（申请人）, addressee_id（接收人）, status（状态）, message（附言）, ...)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20C127-BB41-4320-B9F9-9FDDAC0E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3360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E18310-803B-4D08-A2E5-1E45326B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2324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申请中的关系状态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8DE75A-3753-459A-B17C-4705F317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0"/>
            <a:ext cx="2428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996D77-6984-4474-B3F1-F0538E47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2276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FRIENDSHIPS（好友关系）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74E2E6-56EF-4C8C-9600-616895B0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571750"/>
            <a:ext cx="4810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31A07C-5814-46B6-A253-31A1A641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628900"/>
            <a:ext cx="46577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(id, user_id（用户）, friend_id（好友）, ...)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FD2A82-CE9B-492C-B8E4-6EC7D06D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7175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F41EE1-1982-44E9-B4EB-B2C3F157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28900"/>
            <a:ext cx="2324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已建立好友关系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75E93-4628-4223-BD13-3958FEBF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9900"/>
            <a:ext cx="2428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902EE0-3A94-4AD6-A101-BDD96676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2276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DIRECT_CONVERSATIONS（私信会话）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DE9D60-F3E1-47BD-858E-864FA88A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009900"/>
            <a:ext cx="4810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A1A283-9236-43C7-B7F1-6AB5A893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067050"/>
            <a:ext cx="46577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(id, pair_key（会话唯一键）, last_message_at（最后消息时间）, ...)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057ED5-0922-406D-878A-EE2E144E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00990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45AC18-DC61-4A0C-AFDC-35E78867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67050"/>
            <a:ext cx="2324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两人私信会话，pair_key（会话唯一键）唯一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F47D15-EC03-4291-A0B0-E32C703D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48050"/>
            <a:ext cx="2428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9B7F83-5465-48FE-81B3-B61D38C7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05200"/>
            <a:ext cx="2276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DIRECT_CONVERSATION_MEMBERS（会话成员）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5C90F4-8E51-4878-A7BD-2C56085B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448050"/>
            <a:ext cx="4810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015A66-E38E-4EC6-B23C-1620460A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505200"/>
            <a:ext cx="46577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(id, direct_conversation_id（会话）, user_id（用户）, ...)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01072B-B050-45BD-AC12-55932EE6F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4805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F9BDB85-B851-4E9F-8CB1-3B2BC639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05200"/>
            <a:ext cx="2324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会话成员中间表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44540B-AE14-4C25-A936-4CCCB42EF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86200"/>
            <a:ext cx="2428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011BB0-255E-48B8-B539-94CABE15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2276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DIRECT_MESSAGES（私信消息）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5CAF6E9-7E33-4887-8D5A-BE42566A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886200"/>
            <a:ext cx="48101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892AB4-DE89-437D-944B-FA08701B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943350"/>
            <a:ext cx="46577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(id, conversation_id（会话）, sender_id（发送者）, content（内容）, ...)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BBF48CB-5C70-4EAD-BD7D-C70EB33F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8620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EBEDE41-B10C-42B8-8F10-276D242E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43350"/>
            <a:ext cx="2324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私信消息历史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BDFA6EA-D3DE-4219-B64C-27CDC899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05375"/>
            <a:ext cx="428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80C40AD-CAED-4C61-A7E0-4F56FE27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05375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7B2"/>
          </a:solidFill>
          <a:ln xmlns:a="http://schemas.openxmlformats.org/drawingml/2006/main" w="0">
            <a:solidFill>
              <a:srgbClr val="3B67B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02FC885-7B0B-4DFE-AC01-DA0B2DAFD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38725"/>
            <a:ext cx="4019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为什么会话要有 pair_key（会话唯一键）？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EEC7C15-1CE1-45DC-8256-4BD97A99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362575"/>
            <a:ext cx="4019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同一对用户只能对应一个双人会话，避免 A-B 与 B-A 被创建成两条不同会话。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BD10C2F-8DC3-42DB-8DE4-FEEA35B90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905375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F625E0F-A3F3-4F57-8418-82E4F290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905375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F55"/>
          </a:solidFill>
          <a:ln xmlns:a="http://schemas.openxmlformats.org/drawingml/2006/main" w="0">
            <a:solidFill>
              <a:srgbClr val="5A8F5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12F5C52-6D00-49C6-A357-BF98C5E7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038725"/>
            <a:ext cx="3638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为什么好友请求不直接变好友？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F86CCF7-E5B4-4366-BF25-34BEEDBB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362575"/>
            <a:ext cx="3638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申请、接受、拒绝是状态机；FRIEND_REQUESTS 保存过程，FRIENDSHIPS 保存结果。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860E18C-8808-4975-8FEA-8FEC75D1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38850"/>
            <a:ext cx="847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README（项目说明）中还提到：系统允许非好友私信，同时用提示提醒关系状态，因此会话模型和好友模型必须解耦。</a:t>
            </a:r>
          </a:p>
        </p:txBody>
      </p:sp>
    </p:spTree>
    <p:extLst>
      <p:ext uri="{BB962C8B-B14F-4D97-AF65-F5344CB8AC3E}">
        <p14:creationId xmlns:p14="http://schemas.microsoft.com/office/powerpoint/2010/main" val="80664294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3FD0A9-B628-4681-9895-81196644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08F363-9288-4817-B437-59B49317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1150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F3E6661-AFF5-4B09-B44C-EB86E9A9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8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1E4BFE9-4A8F-4DED-9BA7-48A29FA1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CONSTRAINTS（约束）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A0BBC7-D127-445D-AF6E-C056B4CD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约束设计的目标：保证身份唯一、层级清楚、消息可追溯。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897F20-194B-4BA4-9779-532E8C84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47C7F0-E713-4476-AB53-ED41F574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669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约束类型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BCE728-34B9-4350-B53F-5898CAE43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C3C191-95E1-42E5-9BE9-4ED6B26E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8669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出现位置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4E7983-D2FD-4964-B576-84E52910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809750"/>
            <a:ext cx="419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1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06C80D-4E77-4DD7-ACA3-C3289043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866900"/>
            <a:ext cx="4038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设计作用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845724-AD15-464B-9D74-9FDE6E40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5CC3D4-92E2-4FFB-A79F-FD1968B4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主键 PK（主键）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D2F979-4399-4AE7-9612-C0AAF769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3050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6E02D0-304B-42BE-A225-0CBDCD27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3622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所有主业务表 id（编号）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61F62D-8C80-4EB4-8E50-7CEAF799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305050"/>
            <a:ext cx="419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452617-C120-42A6-A5A0-A988DF89B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362200"/>
            <a:ext cx="4038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每条记录都有稳定身份，便于外键引用和软删除。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EC8D55-09E2-420C-B615-C2611E49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5E6FD1-A113-4BDB-AB56-EC4C63C5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唯一 UK（唯一键）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20139C-DF9A-4674-8583-594B6768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8003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A46BA2-B81D-459F-A89C-0680430C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8575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USERS（用户）.email（邮箱）；CHANNEL_GROUPS（群组）.invite_code（邀请码）；DIRECT_CONVERSATIONS（私信会话）.pair_key（会话唯一键）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0287DB-6750-43DD-93DC-A6294948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800350"/>
            <a:ext cx="419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AABFE4-32D0-4CCB-B9A1-39419556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857500"/>
            <a:ext cx="4038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防止重复账号、重复邀请码和重复双人会话。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41758F-3EE4-4A31-94CC-6C9F9E99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1980EE-1A17-4608-99D2-31EEAE0D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528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外键 FK（外键）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84A28F-03FB-4496-9796-17FD75D4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956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57F1E1-4618-4F0B-A9C0-E82DE224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3528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owner_id（拥有者）、group_id（群组）、sender_id（发送者）、channel_id（频道）、conversation_id（会话）等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9381C4-03FB-4672-9EC4-2CBDC562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295650"/>
            <a:ext cx="419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C99A5A-C130-4E63-97DB-1C7E4E74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52800"/>
            <a:ext cx="4038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让对象关系可追踪，避免孤立消息或无归属频道。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D4062B-0678-4699-8432-140A2209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F0C570-7BB3-44D1-AE8C-DCC18946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481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中间表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D168B9-FBD7-42B9-8B43-898D36E8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7909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B45BEC-123F-46C5-910D-0EFBEE2C5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8481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USER_GROUPS（用户群组）、USER_CHANNELS（用户频道）、DIRECT_CONVERSATION_MEMBERS（会话成员）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7A3333-85FA-4AEA-8384-17F9492A0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790950"/>
            <a:ext cx="419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7F2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A80A3F-9909-42AB-9A22-415FDCFC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48100"/>
            <a:ext cx="4038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表达多对多或当前参与关系，避免在单表存数组。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24A53C-745B-4CBB-8327-8E9396B4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B60E069-77EE-416B-B189-02A35239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软删除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CF03914-C957-4895-862E-A46A4632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286250"/>
            <a:ext cx="238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8C5A41F-043C-4CDB-A891-A38808FD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3434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deleted_at（删除时间）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1C2ED90-EB67-4EFE-BBCE-EDA846908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286250"/>
            <a:ext cx="419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7CAD545-9BEA-4135-9163-B276B33A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343400"/>
            <a:ext cx="4038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撤回、删除、恢复和审计更自然，不破坏历史引用。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F9A5BF6-0352-41AE-8651-1807301E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范式角度：实体属性放在实体表，关系属性放在关系表；例如 User（用户）在 Group（群组）中的 role（角色）属于 USER_GROUPS（用户群组），而不是 USERS（用户）。</a:t>
            </a:r>
          </a:p>
        </p:txBody>
      </p:sp>
    </p:spTree>
    <p:extLst>
      <p:ext uri="{BB962C8B-B14F-4D97-AF65-F5344CB8AC3E}">
        <p14:creationId xmlns:p14="http://schemas.microsoft.com/office/powerpoint/2010/main" val="151460678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2B351C-547E-4B83-B67F-93582F85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504AE7-4764-4238-AF85-B707D84A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115050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A245AB7-D52B-47DE-8A9C-CB453E561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8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0891DB2-147E-4BD0-9309-8C71E92E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84A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A3A"/>
                </a:solidFill>
                <a:latin typeface="Aptos"/>
                <a:ea typeface="Aptos"/>
                <a:cs typeface="Aptos"/>
              </a:rPr>
              <a:t>SUMMARY（总结）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A03D0C-3158-4026-A5E3-E301C54F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8202A"/>
                </a:solidFill>
                <a:latin typeface="Aptos Display"/>
                <a:ea typeface="Aptos Display"/>
                <a:cs typeface="Aptos Display"/>
              </a:rPr>
              <a:t>最终关系模式支撑了可扩展、可演示、可运维的实时社区骨架。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05B21F-A92E-4618-A401-CC576482C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30099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B29043-7AE0-42AE-BC61-EA270E8D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A3A"/>
          </a:solidFill>
          <a:ln xmlns:a="http://schemas.openxmlformats.org/drawingml/2006/main" w="0">
            <a:solidFill>
              <a:srgbClr val="C84A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FE729F-7863-4794-B99E-E9208DD7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85975"/>
            <a:ext cx="2743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1. User（用户）是中心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5AB12E-EBCD-4B2D-84B6-8615E999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09825"/>
            <a:ext cx="2743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拥有 Group（群组）、发送消息、加入频道、发起好友申请、参与私信会话。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16D69C-E433-4F28-A797-74234BC46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30099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B35ADD-5E97-4016-A74B-E423E255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52625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8A8A"/>
          </a:solidFill>
          <a:ln xmlns:a="http://schemas.openxmlformats.org/drawingml/2006/main" w="0">
            <a:solidFill>
              <a:srgbClr val="1F8A8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2FCDA8-BEC7-4BCD-ABBB-558A9800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85975"/>
            <a:ext cx="2743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2. Group（群组）是容器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05C6E1-8543-4894-A2AD-3365A213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09825"/>
            <a:ext cx="2743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Group（群组）包含频道、成员、身份组；频道承载文本或语音场景。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C7D297-919E-4250-88BA-FB16E59B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952625"/>
            <a:ext cx="30099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041CD3-3923-4FFF-909D-CB11B4C0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952625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7B2"/>
          </a:solidFill>
          <a:ln xmlns:a="http://schemas.openxmlformats.org/drawingml/2006/main" w="0">
            <a:solidFill>
              <a:srgbClr val="3B67B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46D974-FC68-422B-BC5E-0F7AACC4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85975"/>
            <a:ext cx="2743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3. Message（消息）是流水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F73BD5-38B7-40D7-9BB2-6A9F5D5A3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09825"/>
            <a:ext cx="2743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消息通过 sender_id（发送者）与 channel/conversation（频道/会话）关联，适合历史分页和实时同步。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B3E746-DF69-42C0-914B-0DE32EF4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86200"/>
            <a:ext cx="30099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A52303-B28C-499F-B4A5-09114B24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8620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B2E"/>
          </a:solidFill>
          <a:ln xmlns:a="http://schemas.openxmlformats.org/drawingml/2006/main" w="0">
            <a:solidFill>
              <a:srgbClr val="C98B2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2906AB-B797-429E-A37F-FE4E15BC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019550"/>
            <a:ext cx="2743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4. Relation（关系）用中间表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7335E4-789E-48EC-A407-89F3D713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343400"/>
            <a:ext cx="2743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用户-群组、用户-频道、用户-会话成员关系都独立建表，结构更清楚。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B01747-22CA-4DFF-AF1B-0DCBDFB44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86200"/>
            <a:ext cx="30099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0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B5FD6B-6522-4ABA-92D7-51AF688B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8620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8F55"/>
          </a:solidFill>
          <a:ln xmlns:a="http://schemas.openxmlformats.org/drawingml/2006/main" w="0">
            <a:solidFill>
              <a:srgbClr val="5A8F5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DF7573-B6F8-4022-B022-3E7A25EF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19550"/>
            <a:ext cx="2743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5. Constraint（约束）保证一致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C34FDD-6213-461D-BED2-50CCC8C4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43400"/>
            <a:ext cx="2743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PK（主键）、FK（外键）、UK（唯一键）、deleted_at（删除时间）共同保证数据可定位、可引用、可恢复。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4AC704-4565-4AA5-9F57-20C1A9CF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8864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一句话记忆：这个 ER 图不是“聊天消息表”的扩展，而是围绕用户、群组、频道、好友和私信会话组织起来的实时社区数据模型。</a:t>
            </a:r>
          </a:p>
        </p:txBody>
      </p:sp>
    </p:spTree>
    <p:extLst>
      <p:ext uri="{BB962C8B-B14F-4D97-AF65-F5344CB8AC3E}">
        <p14:creationId xmlns:p14="http://schemas.microsoft.com/office/powerpoint/2010/main" val="3187937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2026-06-03T13:23:33.4560000Z</dcterms:created>
  <dcterms:modified xsi:type="dcterms:W3CDTF">2026-06-03T13:23:33.4560000Z</dcterms:modified>
</coreProperties>
</file>