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6179af0743498c" /><Relationship Type="http://schemas.openxmlformats.org/officeDocument/2006/relationships/extended-properties" Target="/docProps/app.xml" Id="Ra80b3573e13342ea" /><Relationship Type="http://schemas.openxmlformats.org/officeDocument/2006/relationships/officeDocument" Target="/ppt/presentation.xml" Id="R8c0e7512230340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5483fd7b184fa6"/>
  </p:sldMasterIdLst>
  <p:notesMasterIdLst>
    <p:notesMasterId xmlns:r="http://schemas.openxmlformats.org/officeDocument/2006/relationships" r:id="R906123cb512a4b7b"/>
  </p:notesMasterIdLst>
  <p:sldIdLst>
    <p:sldId xmlns:r="http://schemas.openxmlformats.org/officeDocument/2006/relationships" id="256" r:id="R90df5dcf4444421a"/>
    <p:sldId xmlns:r="http://schemas.openxmlformats.org/officeDocument/2006/relationships" id="257" r:id="R75c178908f864cfc"/>
    <p:sldId xmlns:r="http://schemas.openxmlformats.org/officeDocument/2006/relationships" id="258" r:id="R11a8ed3b280a433c"/>
    <p:sldId xmlns:r="http://schemas.openxmlformats.org/officeDocument/2006/relationships" id="259" r:id="R6dedc60f4f48428e"/>
    <p:sldId xmlns:r="http://schemas.openxmlformats.org/officeDocument/2006/relationships" id="260" r:id="R22441f326b6f4ea0"/>
    <p:sldId xmlns:r="http://schemas.openxmlformats.org/officeDocument/2006/relationships" id="261" r:id="R336542edc7e544c3"/>
    <p:sldId xmlns:r="http://schemas.openxmlformats.org/officeDocument/2006/relationships" id="262" r:id="R7492cdd144d74529"/>
    <p:sldId xmlns:r="http://schemas.openxmlformats.org/officeDocument/2006/relationships" id="263" r:id="Ra6afa1d90e8148d4"/>
    <p:sldId xmlns:r="http://schemas.openxmlformats.org/officeDocument/2006/relationships" id="264" r:id="R1c77a4161e2043a3"/>
    <p:sldId xmlns:r="http://schemas.openxmlformats.org/officeDocument/2006/relationships" id="265" r:id="R70dddc50032d45be"/>
    <p:sldId xmlns:r="http://schemas.openxmlformats.org/officeDocument/2006/relationships" id="266" r:id="Rb510cb74a3d446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79b22832314bc8" /><Relationship Type="http://schemas.openxmlformats.org/officeDocument/2006/relationships/slideMaster" Target="/ppt/slideMasters/slideMaster1.xml" Id="R9e5483fd7b184fa6" /><Relationship Type="http://schemas.openxmlformats.org/officeDocument/2006/relationships/notesMaster" Target="/ppt/notesMasters/notesMaster1.xml" Id="R906123cb512a4b7b" /><Relationship Type="http://schemas.openxmlformats.org/officeDocument/2006/relationships/presProps" Target="/ppt/presProps.xml" Id="R4c0c1c13f1394a5b" /><Relationship Type="http://schemas.openxmlformats.org/officeDocument/2006/relationships/viewProps" Target="/ppt/viewProps.xml" Id="R7385575975dd449a" /><Relationship Type="http://schemas.openxmlformats.org/officeDocument/2006/relationships/tableStyles" Target="/ppt/tableStyles.xml" Id="Rc4fa665174864034" /><Relationship Type="http://schemas.openxmlformats.org/officeDocument/2006/relationships/slide" Target="/ppt/slides/slide1.xml" Id="R90df5dcf4444421a" /><Relationship Type="http://schemas.openxmlformats.org/officeDocument/2006/relationships/slide" Target="/ppt/slides/slide2.xml" Id="R75c178908f864cfc" /><Relationship Type="http://schemas.openxmlformats.org/officeDocument/2006/relationships/slide" Target="/ppt/slides/slide3.xml" Id="R11a8ed3b280a433c" /><Relationship Type="http://schemas.openxmlformats.org/officeDocument/2006/relationships/slide" Target="/ppt/slides/slide4.xml" Id="R6dedc60f4f48428e" /><Relationship Type="http://schemas.openxmlformats.org/officeDocument/2006/relationships/slide" Target="/ppt/slides/slide5.xml" Id="R22441f326b6f4ea0" /><Relationship Type="http://schemas.openxmlformats.org/officeDocument/2006/relationships/slide" Target="/ppt/slides/slide6.xml" Id="R336542edc7e544c3" /><Relationship Type="http://schemas.openxmlformats.org/officeDocument/2006/relationships/slide" Target="/ppt/slides/slide7.xml" Id="R7492cdd144d74529" /><Relationship Type="http://schemas.openxmlformats.org/officeDocument/2006/relationships/slide" Target="/ppt/slides/slide8.xml" Id="Ra6afa1d90e8148d4" /><Relationship Type="http://schemas.openxmlformats.org/officeDocument/2006/relationships/slide" Target="/ppt/slides/slide9.xml" Id="R1c77a4161e2043a3" /><Relationship Type="http://schemas.openxmlformats.org/officeDocument/2006/relationships/slide" Target="/ppt/slides/slide10.xml" Id="R70dddc50032d45be" /><Relationship Type="http://schemas.openxmlformats.org/officeDocument/2006/relationships/slide" Target="/ppt/slides/slide11.xml" Id="Rb510cb74a3d446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11d2a9ecb546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58b260089e422b" /><Relationship Type="http://schemas.openxmlformats.org/officeDocument/2006/relationships/notesMaster" Target="/ppt/notesMasters/notesMaster1.xml" Id="R98ca8a4d476c4d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82e3efd67742b3" /><Relationship Type="http://schemas.openxmlformats.org/officeDocument/2006/relationships/notesMaster" Target="/ppt/notesMasters/notesMaster1.xml" Id="Rfbe8deedad7b49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f3a3d19af148c1" /><Relationship Type="http://schemas.openxmlformats.org/officeDocument/2006/relationships/notesMaster" Target="/ppt/notesMasters/notesMaster1.xml" Id="R0853963ac13c4d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40dcb412ab4842" /><Relationship Type="http://schemas.openxmlformats.org/officeDocument/2006/relationships/notesMaster" Target="/ppt/notesMasters/notesMaster1.xml" Id="R10c8d36b32df47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500ab74f194342" /><Relationship Type="http://schemas.openxmlformats.org/officeDocument/2006/relationships/notesMaster" Target="/ppt/notesMasters/notesMaster1.xml" Id="Rf1fd30e92f0c45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d89cc55d014c6a" /><Relationship Type="http://schemas.openxmlformats.org/officeDocument/2006/relationships/notesMaster" Target="/ppt/notesMasters/notesMaster1.xml" Id="Ref150539c99744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736769c9de48fc" /><Relationship Type="http://schemas.openxmlformats.org/officeDocument/2006/relationships/notesMaster" Target="/ppt/notesMasters/notesMaster1.xml" Id="R666594b48f3644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d7e54d0b334bc8" /><Relationship Type="http://schemas.openxmlformats.org/officeDocument/2006/relationships/notesMaster" Target="/ppt/notesMasters/notesMaster1.xml" Id="Rc0689f1285bc46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53801054634d7d" /><Relationship Type="http://schemas.openxmlformats.org/officeDocument/2006/relationships/notesMaster" Target="/ppt/notesMasters/notesMaster1.xml" Id="Rac1a7b87a55c4f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f0251a5da6487d" /><Relationship Type="http://schemas.openxmlformats.org/officeDocument/2006/relationships/notesMaster" Target="/ppt/notesMasters/notesMaster1.xml" Id="R5a0a4f5b100e4e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ef6e037ce24ea1" /><Relationship Type="http://schemas.openxmlformats.org/officeDocument/2006/relationships/notesMaster" Target="/ppt/notesMasters/notesMaster1.xml" Id="Rb4926bf6f34d42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f27987b0847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3c02482e7b4e2d" /><Relationship Type="http://schemas.openxmlformats.org/officeDocument/2006/relationships/slideLayout" Target="/ppt/slideLayouts/slideLayout1.xml" Id="Re10e6e25e8e44f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0e6e25e8e44f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68041bc9d4285" /><Relationship Type="http://schemas.openxmlformats.org/officeDocument/2006/relationships/notesSlide" Target="/ppt/notesSlides/notesSlide1.xml" Id="Rd9d81062ba4840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d59367d214ca1" /><Relationship Type="http://schemas.openxmlformats.org/officeDocument/2006/relationships/notesSlide" Target="/ppt/notesSlides/notesSlide2.xml" Id="R42933f8e693648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1f373e07d4e71" /><Relationship Type="http://schemas.openxmlformats.org/officeDocument/2006/relationships/notesSlide" Target="/ppt/notesSlides/notesSlide3.xml" Id="R60ab3896501241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bcc38951b4ac4" /><Relationship Type="http://schemas.openxmlformats.org/officeDocument/2006/relationships/notesSlide" Target="/ppt/notesSlides/notesSlide4.xml" Id="R6ed7d5601e1d43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5eaf60b7940c4" /><Relationship Type="http://schemas.openxmlformats.org/officeDocument/2006/relationships/notesSlide" Target="/ppt/notesSlides/notesSlide5.xml" Id="R924b77ee25b34f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1afee99f44549" /><Relationship Type="http://schemas.openxmlformats.org/officeDocument/2006/relationships/notesSlide" Target="/ppt/notesSlides/notesSlide6.xml" Id="Ref725029a06f4a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694519d624227" /><Relationship Type="http://schemas.openxmlformats.org/officeDocument/2006/relationships/notesSlide" Target="/ppt/notesSlides/notesSlide7.xml" Id="R413d792d25474c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56252689b4c0e" /><Relationship Type="http://schemas.openxmlformats.org/officeDocument/2006/relationships/notesSlide" Target="/ppt/notesSlides/notesSlide8.xml" Id="R0d325e89ee694e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ca6d1ca9f4a65" /><Relationship Type="http://schemas.openxmlformats.org/officeDocument/2006/relationships/notesSlide" Target="/ppt/notesSlides/notesSlide9.xml" Id="R2207105d2a9240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5b021475d4646" /><Relationship Type="http://schemas.openxmlformats.org/officeDocument/2006/relationships/notesSlide" Target="/ppt/notesSlides/notesSlide10.xml" Id="Ra0e383632dd140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9ff44c3124134" /><Relationship Type="http://schemas.openxmlformats.org/officeDocument/2006/relationships/notesSlide" Target="/ppt/notesSlides/notesSlide11.xml" Id="R17515292296a45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8D3DF-9D95-4961-B4B9-CA01B4C7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6111B-83C8-4628-BB9D-05AC2057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1F057-F1C8-46A8-8C60-F70BD9FB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D8885-4B55-4BC8-A16F-76B23826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B9758-1A18-4E63-B474-73E42557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09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Chatting 实时聊天系统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46D4D-81A9-481D-8C3A-E1A93052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84A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84A3A"/>
                </a:solidFill>
                <a:latin typeface="Aptos Display"/>
                <a:ea typeface="Aptos Display"/>
                <a:cs typeface="Aptos Display"/>
              </a:rPr>
              <a:t>ER（实体关系）图与关系模式讲解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05D7E-91CB-40B3-AC42-EB363BF8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基于 README.md（项目说明文件）：Go、Next.js、PostgreSQL（技术栈）的频道聊天、私信、好友、语音与后台管理系统。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6CAB9-5F3F-49A6-B18E-8AFC106B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CD2AA-A3C7-4B1B-B92C-D89B39E0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255D8-B8B6-4D27-9831-E20811F8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12 张主业务表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AC669-CFAA-4046-BDAF-EB39B1B3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用户、Group（群组）、频道、消息、好友、私信会话与权限角色。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A70DA-896F-4079-B7E3-95EEFAD7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A2D16-A34C-4BAE-BA12-43EC4C36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6FFC8-2C5F-468F-9E67-1BFF233B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4 个业务域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6BBD5-3FEB-49D2-BE5A-83A81A76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身份域、群组频道域、社交关系域、私信会话域。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F1A35-7523-42E4-97DC-F4A200E9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E5157-C682-4157-97AE-53DE3732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67E30-8186-46D8-BB91-CE8277D3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核心设计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E5A98-E092-4C3D-B80D-9869BE15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用多对多中间表承载成员关系，用独立会话表承载私信。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EE486-1DBA-4E7E-88C0-79695B69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7731F-7A4B-4B2D-9128-B7BF387D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990600"/>
            <a:ext cx="1095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263241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263241"/>
                </a:solidFill>
                <a:latin typeface="Aptos"/>
                <a:ea typeface="Aptos"/>
                <a:cs typeface="Aptos"/>
              </a:rPr>
              <a:t>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84BEC-39A0-4D06-9697-FA375F0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8097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9CA4FA-FC2E-4414-9073-755013B8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从业务对象到数据库结构</a:t>
            </a:r>
          </a:p>
        </p:txBody>
      </p:sp>
    </p:spTree>
    <p:extLst>
      <p:ext uri="{BB962C8B-B14F-4D97-AF65-F5344CB8AC3E}">
        <p14:creationId xmlns:p14="http://schemas.microsoft.com/office/powerpoint/2010/main" val="3296487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1B8CE-ED34-40A7-91E1-C40C04DB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CB73E-C615-4609-B6B0-8705436D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F77BC49-0E62-4E32-BD2C-3903C48E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51327B-33FC-4A9F-9C94-46A071B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PROJECT CONTEXT（项目背景）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16351-BBC7-4FF9-9438-6089F003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数据模型服务的是一个“实时社区”产品，而不是单一聊天室。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8462C-D640-42A5-90B8-CEEEEB8F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0223D-E1CD-48E4-8A2B-72A81E73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843DC-EF71-408F-87D4-39864B07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身份与在线状态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F4D32-F05A-45BD-B5BF-BA43D2B7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用户注册登录、资料、头像、管理员角色、在线状态与心跳。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B568E-0F15-4EFD-ACC0-F402EEF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48AE3-B162-49B5-BEC7-10F2F042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7721F-3DBB-48A1-8C84-54F022C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Group（群组）与频道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8F1B3-9C9A-4EB3-8F2C-B656F886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Group 拥有者、成员、文本频道、语音频道、频道人数限制。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4F34B-DD62-400B-BE0E-BBF2AF44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7C6C4-0D06-4E0A-832B-D4F50F61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894B0-C74D-4ECE-B1DA-F290434D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消息与实时推送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9FBAD-1202-4A9F-8157-8ABC15E6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频道消息和私信先落库，再由 WebSocket（实时长连接）推送，跨实例通过 Kafka fanout（事件广播分发）。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3F1C0-3E79-48FE-B5CB-588DC96A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1950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C51A2-EE5A-4D5D-A5BA-9F4E208A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19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CAF7A-14B1-4CEF-996B-117FF840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52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好友与私信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F2EF0-6C18-4653-A160-31A77841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7670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好友申请、好友列表、非好友私信提示、双人私信会话。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AEDE8-23CA-44E9-B8F8-339F67E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讲 ER（实体关系）图时先分业务域，可以避免把表关系看成零散外键；每张表都对应一个稳定的产品概念或关系。</a:t>
            </a:r>
          </a:p>
        </p:txBody>
      </p:sp>
    </p:spTree>
    <p:extLst>
      <p:ext uri="{BB962C8B-B14F-4D97-AF65-F5344CB8AC3E}">
        <p14:creationId xmlns:p14="http://schemas.microsoft.com/office/powerpoint/2010/main" val="6264548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41D29-05D8-4E10-9F80-53524D3D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B85E2-B869-444D-BF5B-1E75F7B0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AC34C98-D5B2-42E1-83AA-BABABCF4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586A85-94F0-48C2-A472-ABE149F6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ER OVERVIEW（ER 总览）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AD93A-DC5C-4F65-8E2A-F7911F1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ER 总览可以拆成四个业务域，User（用户）是所有关系的中心。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57E54-D8DF-4F5D-BEC4-E40F1BF5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33F86-6A26-4CA9-91BB-FF5E2BE5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F40C6-1579-4230-A107-BA6443C3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192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USERS（用户）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BCCA7-E897-4AAD-A448-48AA1653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105025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email（邮箱） UK（唯一键）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username（用户名）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role（角色） / online（在线）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DDFBD-8D40-4790-B0FC-79A0370A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31A40-A066-429F-A494-06C65DC0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3B54D-9C3E-427E-A8A8-0EE8F26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906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CHANNEL_GROUPS（群组）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F8C8E-0E2B-42F4-8117-9E2F64FE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87642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owner_id（拥有者）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invite_code（邀请码） UK（唯一键）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04F58-5F11-49F0-A922-662FA746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5AB75-D68E-4106-B387-5A3F1495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4B38A-453A-49D9-B086-4CF8889F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194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CHANNELS（频道）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413F7-F9AE-4C34-8A5B-3590B1FC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type（类型） / position（排序）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BF26D-D511-4DE5-99FC-F6AB8227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48E6F-02E2-4BF7-A0BA-64CC41A6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D2C77-9FFB-45C3-824F-F9D1A222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481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MESSAGES（消息）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C8CCA-22CA-4C5C-8BD9-97B54BA3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73392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sender_id（发送者）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channel_id（频道） FK（外键）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EF290-3FC4-4DE7-ACB3-205A6FB6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A7296-CF6C-44FC-8129-3BD888E9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55974-B6CB-4AB9-9194-02C686AE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719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USER_GROUPS（用户群组）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C2DC5-F166-40BA-A78F-AE300B16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2576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user_id（用户）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role（角色）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63075-ED63-4E96-B631-1B8E5D5A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C96DB-B642-4074-B59A-7A309E9B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28BBAF-4AE6-4A97-BF35-79A51C9F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USER_CHANNELS（用户频道）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97295-C8C7-4139-8156-DF2EA0C8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576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user_id（用户）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channel_id（频道） FK（外键）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0AF6A-1809-4D0A-A787-ABEF73CE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382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D1671-742C-43F8-BDE5-19C622A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382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44212B-94EE-4B21-A23E-C1824A7C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FRIEND_REQUESTS（好友申请）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6683B7-13B7-4CAD-89B6-0CFA8B54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5525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requester_id（申请人）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addressee_id（接收人）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status（状态）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014DF5-E17C-4730-9AD5-94EF3054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7FEF69-F7FD-4412-8221-95F65388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1664FD-F70E-47D1-8CC0-D1594591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765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FRIENDSHIPS（好友关系）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7C8347-994C-4805-A402-59D1D816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622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user_id（用户）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friend_id（好友） FK（外键）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A1C350-B4A4-404A-A79C-DAA4228C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877ED1-9B76-4A80-91B5-C2A9CA3E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A4ADA4-D16E-443F-8759-8A295689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243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DIRECT_CONVERSATIONS（私信会话）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C21BB7-63D3-4A5B-96DA-DD285ECA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pair_key（会话唯一键） UK（唯一键）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last_message_at（最后消息时间）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AE443B-C82A-438B-A224-C3FDF50C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0505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E2B225-7778-4DFE-8299-6711699A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338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29A19B-5F27-455B-8336-2B7DB0A6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阅读顺序：先看 USERS，再看它与 Group/频道、好友、私信的连接；中间表负责多对多关系，消息表负责时间序列数据。</a:t>
            </a:r>
          </a:p>
        </p:txBody>
      </p:sp>
    </p:spTree>
    <p:extLst>
      <p:ext uri="{BB962C8B-B14F-4D97-AF65-F5344CB8AC3E}">
        <p14:creationId xmlns:p14="http://schemas.microsoft.com/office/powerpoint/2010/main" val="18375244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C37299-C215-4B81-9AFB-BA521DA9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11430">
            <a:solidFill>
              <a:srgbClr val="F7F2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B406F-CE18-4989-A716-2AF4D04E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11430">
            <a:solidFill>
              <a:srgbClr val="C8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3D515-13BC-4DD4-8015-1BCB00F8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CHEN ER DIAGRAM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2EDA7-E7FC-4906-9E24-4C48704C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陈氏 ER 图把中间表还原为“联系”，结构会更规整。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2A24A-F665-49F6-B94E-D0D71B6B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矩形表示实体，椭圆表示属性，菱形表示联系。这里弱化外键细节，只保留核心业务语义与关键属性。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33CD2-938F-4AE6-BD5A-7B72F0C3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334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11430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8F094-FE18-4838-A538-6B06E428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5410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11430">
            <a:solidFill>
              <a:srgbClr val="D6D0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65633-74D8-422F-8A4A-D6DE5E82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334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11430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E535E-97E3-41AC-8ADC-478074CF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5410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11430">
            <a:solidFill>
              <a:srgbClr val="D6D0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2D466-17E0-46DC-8408-B92032E8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8B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8B2E"/>
                </a:solidFill>
                <a:latin typeface="Aptos"/>
                <a:ea typeface="Aptos"/>
                <a:cs typeface="Aptos"/>
              </a:rPr>
              <a:t>1. 群组成员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6F6D8-C04B-4241-85A6-0DA20823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71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8A8A"/>
                </a:solidFill>
                <a:latin typeface="Aptos"/>
                <a:ea typeface="Aptos"/>
                <a:cs typeface="Aptos"/>
              </a:rPr>
              <a:t>2. 群组结构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0E08F-53D3-4A34-AB83-6D2A3544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67B2"/>
                </a:solidFill>
                <a:latin typeface="Aptos"/>
                <a:ea typeface="Aptos"/>
                <a:cs typeface="Aptos"/>
              </a:rPr>
              <a:t>3. 频道消息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F834C-A632-4358-BEE5-E295785D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8F55"/>
                </a:solidFill>
                <a:latin typeface="Aptos"/>
                <a:ea typeface="Aptos"/>
                <a:cs typeface="Aptos"/>
              </a:rPr>
              <a:t>4. 好友私信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5E315-2455-44D2-8121-D50B6CE3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4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80A1D-22D4-4171-B103-7039E1DC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384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用户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D94C9-DB96-436D-B93A-321433AD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24100"/>
            <a:ext cx="72390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1430">
            <a:solidFill>
              <a:srgbClr val="C98B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B1E47-DB2B-4910-B045-35E79D4E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193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98B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8B2E"/>
                </a:solidFill>
                <a:latin typeface="Aptos"/>
                <a:ea typeface="Aptos"/>
                <a:cs typeface="Aptos"/>
              </a:rPr>
              <a:t>加入</a:t>
            </a:r>
          </a:p>
          <a:p xmlns:a="http://schemas.openxmlformats.org/drawingml/2006/main">
            <a:pPr algn="ctr">
              <a:defRPr sz="750" b="1">
                <a:solidFill>
                  <a:srgbClr val="C98B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8B2E"/>
                </a:solidFill>
                <a:latin typeface="Aptos"/>
                <a:ea typeface="Aptos"/>
                <a:cs typeface="Aptos"/>
              </a:rPr>
              <a:t>N:M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E00A7-87BA-4F8E-A75A-E6274A98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8A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D096A-B2E7-48A6-9A6E-779E8FED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384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8A8A"/>
                </a:solidFill>
                <a:latin typeface="Aptos"/>
                <a:ea typeface="Aptos"/>
                <a:cs typeface="Aptos"/>
              </a:rPr>
              <a:t>群组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DB560-4D48-4F69-AF6B-5C5507E5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9144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4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BB634-E632-40B7-8156-1F6099A3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47875"/>
            <a:ext cx="76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4A3A"/>
                </a:solidFill>
                <a:latin typeface="Aptos"/>
                <a:ea typeface="Aptos"/>
                <a:cs typeface="Aptos"/>
              </a:rPr>
              <a:t>用户名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B50C0-1CC5-488A-945E-C3C895E4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1028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8A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D5C74-6924-4A40-8A62-AF962B03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38475"/>
            <a:ext cx="876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8A8A"/>
                </a:solidFill>
                <a:latin typeface="Aptos"/>
                <a:ea typeface="Aptos"/>
                <a:cs typeface="Aptos"/>
              </a:rPr>
              <a:t>邀请码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75E19-6961-4D82-9852-D880783A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2095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11430">
            <a:solidFill>
              <a:srgbClr val="C84A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75FD46-ED89-4450-BA22-8357F621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2095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1430">
            <a:solidFill>
              <a:srgbClr val="1F8A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200EC1-650E-4F66-94D1-C65BE6E8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62225"/>
            <a:ext cx="742950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11430">
            <a:solidFill>
              <a:srgbClr val="C98B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517CE0-F4BB-4771-A134-F8C5C994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62225"/>
            <a:ext cx="742950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11430">
            <a:solidFill>
              <a:srgbClr val="C98B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0E41F-A220-4805-860F-06FBF3EE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31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8A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24CC4D-99BA-409D-93B9-70A4C8E1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384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8A8A"/>
                </a:solidFill>
                <a:latin typeface="Aptos"/>
                <a:ea typeface="Aptos"/>
                <a:cs typeface="Aptos"/>
              </a:rPr>
              <a:t>群组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A803B8-885D-4DC8-B97C-4EF1129A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704850" cy="457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1430">
            <a:solidFill>
              <a:srgbClr val="1F8A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D16009-B530-4C85-B4D9-BF8A7D0F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8A8A"/>
                </a:solidFill>
                <a:latin typeface="Aptos"/>
                <a:ea typeface="Aptos"/>
                <a:cs typeface="Aptos"/>
              </a:rPr>
              <a:t>包含</a:t>
            </a:r>
          </a:p>
          <a:p xmlns:a="http://schemas.openxmlformats.org/drawingml/2006/main">
            <a:pPr algn="ctr">
              <a:defRPr sz="750" b="1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8A8A"/>
                </a:solidFill>
                <a:latin typeface="Aptos"/>
                <a:ea typeface="Aptos"/>
                <a:cs typeface="Aptos"/>
              </a:rPr>
              <a:t>1:N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111DFC-37A8-4599-AA4E-BFC0C61E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955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8A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3751A2-3A09-4593-ACA0-ECDD4AF6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907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8A8A"/>
                </a:solidFill>
                <a:latin typeface="Aptos"/>
                <a:ea typeface="Aptos"/>
                <a:cs typeface="Aptos"/>
              </a:rPr>
              <a:t>频道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D178C8-EB79-4091-B8CA-C55CD6FF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704850" cy="457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1430">
            <a:solidFill>
              <a:srgbClr val="5A8F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ABB491-A323-4EBE-9E24-A57500A2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A8F55"/>
                </a:solidFill>
                <a:latin typeface="Aptos"/>
                <a:ea typeface="Aptos"/>
                <a:cs typeface="Aptos"/>
              </a:rPr>
              <a:t>定义</a:t>
            </a:r>
          </a:p>
          <a:p xmlns:a="http://schemas.openxmlformats.org/drawingml/2006/main">
            <a:pPr algn="ctr">
              <a:defRPr sz="750" b="1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A8F55"/>
                </a:solidFill>
                <a:latin typeface="Aptos"/>
                <a:ea typeface="Aptos"/>
                <a:cs typeface="Aptos"/>
              </a:rPr>
              <a:t>1:N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E9B11A-3355-43C7-9779-5ACB0582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813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A8F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CB97DC-AAAA-4A88-8A13-7FEFD853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8F55"/>
                </a:solidFill>
                <a:latin typeface="Aptos"/>
                <a:ea typeface="Aptos"/>
                <a:cs typeface="Aptos"/>
              </a:rPr>
              <a:t>角色组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3AA81-E00A-4814-BC59-76CE6DE9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14500"/>
            <a:ext cx="8191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8A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35EC94-291E-4319-B98D-5BA989E2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00225"/>
            <a:ext cx="66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8A8A"/>
                </a:solidFill>
                <a:latin typeface="Aptos"/>
                <a:ea typeface="Aptos"/>
                <a:cs typeface="Aptos"/>
              </a:rPr>
              <a:t>类型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6FC806-7C53-4E21-862E-6601F708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57550"/>
            <a:ext cx="8382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A8F5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5F6AAA-12D6-418D-A932-DAF19A79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43275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8F55"/>
                </a:solidFill>
                <a:latin typeface="Aptos"/>
                <a:ea typeface="Aptos"/>
                <a:cs typeface="Aptos"/>
              </a:rPr>
              <a:t>名称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4AFFE4-25B0-46F5-BF28-5613F1CF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1981200"/>
            <a:ext cx="2095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1430">
            <a:solidFill>
              <a:srgbClr val="1F8A8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753248-C2B0-42ED-883A-0A2C331D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219450"/>
            <a:ext cx="2095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11430">
            <a:solidFill>
              <a:srgbClr val="5A8F5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A18B40-322F-4EF5-93C4-28648B48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62225"/>
            <a:ext cx="295275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1430">
            <a:solidFill>
              <a:srgbClr val="1F8A8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FAD82A-7E25-45AE-A7E7-E10B6809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24100"/>
            <a:ext cx="20003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1430">
            <a:solidFill>
              <a:srgbClr val="1F8A8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14DA64-65C3-452A-9B4B-88446459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24100"/>
            <a:ext cx="295275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1430">
            <a:solidFill>
              <a:srgbClr val="1F8A8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19BACF-2221-4E29-99B9-36AB14A1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24100"/>
            <a:ext cx="914400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1430">
            <a:solidFill>
              <a:srgbClr val="1F8A8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08012F-122F-487A-A41E-007767AE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62225"/>
            <a:ext cx="295275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11430">
            <a:solidFill>
              <a:srgbClr val="5A8F5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F465A8-F2FB-4942-8991-9AD190BB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562225"/>
            <a:ext cx="2000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11430">
            <a:solidFill>
              <a:srgbClr val="5A8F5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369983-27B2-4154-A52E-563E7A90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09900"/>
            <a:ext cx="295275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11430">
            <a:solidFill>
              <a:srgbClr val="5A8F5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933D24-A3BC-4308-8D47-DC94FC06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9900"/>
            <a:ext cx="857250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11430">
            <a:solidFill>
              <a:srgbClr val="5A8F5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B9E710-C39C-4E35-B1B6-C1F4C83E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01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4A3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063413-2CAC-4A58-877B-15322AEC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用户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CCF1C4-15A2-47BD-BD38-D2B3108D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91050"/>
            <a:ext cx="7429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B13860-AF25-49D5-A485-449C9F26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8630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B67B2"/>
                </a:solidFill>
                <a:latin typeface="Aptos"/>
                <a:ea typeface="Aptos"/>
                <a:cs typeface="Aptos"/>
              </a:rPr>
              <a:t>发送</a:t>
            </a:r>
          </a:p>
          <a:p xmlns:a="http://schemas.openxmlformats.org/drawingml/2006/main">
            <a:pPr algn="ctr">
              <a:defRPr sz="750" b="1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B67B2"/>
                </a:solidFill>
                <a:latin typeface="Aptos"/>
                <a:ea typeface="Aptos"/>
                <a:cs typeface="Aptos"/>
              </a:rPr>
              <a:t>1:N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148C40-80C7-447F-9D34-F0B17899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010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664108-57B2-450F-BCAE-52D7E70B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053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B67B2"/>
                </a:solidFill>
                <a:latin typeface="Aptos"/>
                <a:ea typeface="Aptos"/>
                <a:cs typeface="Aptos"/>
              </a:rPr>
              <a:t>频道消息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0E6396-8E79-4BCE-9EE9-EC325150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704850" cy="457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EF7A905-969D-4208-B5D7-DA3D9E7D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B67B2"/>
                </a:solidFill>
                <a:latin typeface="Aptos"/>
                <a:ea typeface="Aptos"/>
                <a:cs typeface="Aptos"/>
              </a:rPr>
              <a:t>属于</a:t>
            </a:r>
          </a:p>
          <a:p xmlns:a="http://schemas.openxmlformats.org/drawingml/2006/main">
            <a:pPr algn="ctr">
              <a:defRPr sz="750" b="1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B67B2"/>
                </a:solidFill>
                <a:latin typeface="Aptos"/>
                <a:ea typeface="Aptos"/>
                <a:cs typeface="Aptos"/>
              </a:rPr>
              <a:t>N:1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27F232-AA28-44ED-BCB7-DB2D8B6A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00500"/>
            <a:ext cx="819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8A8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330EAA-E42B-4BBA-BAB7-EFD71E06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957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8A8A"/>
                </a:solidFill>
                <a:latin typeface="Aptos"/>
                <a:ea typeface="Aptos"/>
                <a:cs typeface="Aptos"/>
              </a:rPr>
              <a:t>频道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282569-9CBD-47C1-9191-BEEA0D27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19700"/>
            <a:ext cx="9906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A0F0C0-74EE-495C-9062-08636733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05425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B67B2"/>
                </a:solidFill>
                <a:latin typeface="Aptos"/>
                <a:ea typeface="Aptos"/>
                <a:cs typeface="Aptos"/>
              </a:rPr>
              <a:t>时间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7DE8FCB-68EE-4460-863D-D95D57C4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48250"/>
            <a:ext cx="2095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FC1A495-CBEF-4A6F-9976-5ABC8FB7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29175"/>
            <a:ext cx="552450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E95AAF-6BCA-4196-80D7-0AB1AF01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29175"/>
            <a:ext cx="571500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D56A01-23B4-4FA4-830C-2AA07605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57700"/>
            <a:ext cx="2000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92DE3E-ED15-4FE8-95E2-4CA410DE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29100"/>
            <a:ext cx="57150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8E9429D-42C7-43CD-90AE-FA202CE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99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4A3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23A887-F4BC-43EC-9649-4C6219D0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用户A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C040A88-81D3-4DEB-8104-B600CAF1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48150"/>
            <a:ext cx="914400" cy="457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1430">
            <a:solidFill>
              <a:srgbClr val="5A8F5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C7665E-30BB-4EF2-BA3D-A78C7048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A8F55"/>
                </a:solidFill>
                <a:latin typeface="Aptos"/>
                <a:ea typeface="Aptos"/>
                <a:cs typeface="Aptos"/>
              </a:rPr>
              <a:t>申请/好友</a:t>
            </a:r>
          </a:p>
          <a:p xmlns:a="http://schemas.openxmlformats.org/drawingml/2006/main">
            <a:pPr algn="ctr">
              <a:defRPr sz="713" b="1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A8F55"/>
                </a:solidFill>
                <a:latin typeface="Aptos"/>
                <a:ea typeface="Aptos"/>
                <a:cs typeface="Aptos"/>
              </a:rPr>
              <a:t>1:1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2927AC9-C36D-48E2-BFF5-DD540D5A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67200"/>
            <a:ext cx="99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4A3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B646A9B-52A9-4983-AF54-83264089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624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用户B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78B1587-9E2B-4946-8AD0-41D3162C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48100"/>
            <a:ext cx="742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A8F5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533BC8A-2C2E-4AC4-AA1B-03BCB566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33825"/>
            <a:ext cx="590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8F55"/>
                </a:solidFill>
                <a:latin typeface="Aptos"/>
                <a:ea typeface="Aptos"/>
                <a:cs typeface="Aptos"/>
              </a:rPr>
              <a:t>状态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978C11E-EF59-4BCA-ADCE-7710A745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114800"/>
            <a:ext cx="2095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11430">
            <a:solidFill>
              <a:srgbClr val="5A8F5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3C74390-F592-44B4-B480-E982F176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76750"/>
            <a:ext cx="704850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11430">
            <a:solidFill>
              <a:srgbClr val="5A8F5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89EEF93-9EC9-41D2-AA07-3096A711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76750"/>
            <a:ext cx="1009650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11430">
            <a:solidFill>
              <a:srgbClr val="5A8F5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2851F72-A4EA-4A8C-86CD-80E4F003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99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4A3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22CF14E-04ED-45E3-A18B-5842A5D5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340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用户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FDDFFA-F617-4F12-946E-965A2699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704850" cy="457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1430">
            <a:solidFill>
              <a:srgbClr val="C98B2E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32CF936-FA5C-4CEA-9328-08627EAA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14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98B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8B2E"/>
                </a:solidFill>
                <a:latin typeface="Aptos"/>
                <a:ea typeface="Aptos"/>
                <a:cs typeface="Aptos"/>
              </a:rPr>
              <a:t>参与</a:t>
            </a:r>
          </a:p>
          <a:p xmlns:a="http://schemas.openxmlformats.org/drawingml/2006/main">
            <a:pPr algn="ctr">
              <a:defRPr sz="750" b="1">
                <a:solidFill>
                  <a:srgbClr val="C98B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8B2E"/>
                </a:solidFill>
                <a:latin typeface="Aptos"/>
                <a:ea typeface="Aptos"/>
                <a:cs typeface="Aptos"/>
              </a:rPr>
              <a:t>M:1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F5F4CAB-3A52-4A37-B9D1-8C6BB7EF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D72494A-692C-43C9-9B75-010E7D6F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340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B67B2"/>
                </a:solidFill>
                <a:latin typeface="Aptos"/>
                <a:ea typeface="Aptos"/>
                <a:cs typeface="Aptos"/>
              </a:rPr>
              <a:t>私信会话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7285CDF-078C-4E71-944A-7BA89EAD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219700"/>
            <a:ext cx="609600" cy="457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5C82CC9-45AB-4B83-8EA3-122B77C9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3149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3B67B2"/>
                </a:solidFill>
                <a:latin typeface="Aptos"/>
                <a:ea typeface="Aptos"/>
                <a:cs typeface="Aptos"/>
              </a:rPr>
              <a:t>包含</a:t>
            </a:r>
          </a:p>
          <a:p xmlns:a="http://schemas.openxmlformats.org/drawingml/2006/main">
            <a:pPr algn="ctr">
              <a:defRPr sz="713" b="1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3B67B2"/>
                </a:solidFill>
                <a:latin typeface="Aptos"/>
                <a:ea typeface="Aptos"/>
                <a:cs typeface="Aptos"/>
              </a:rPr>
              <a:t>1:N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F1B8CB7-6B21-41FC-899C-D803171F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238750"/>
            <a:ext cx="87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873E1DD-8974-46E1-8AFF-8A29C278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3340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B67B2"/>
                </a:solidFill>
                <a:latin typeface="Aptos"/>
                <a:ea typeface="Aptos"/>
                <a:cs typeface="Aptos"/>
              </a:rPr>
              <a:t>私信消息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33A10F2-85DC-4BEA-BD01-A0147AC3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734050"/>
            <a:ext cx="95250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0655812-2480-4D10-8BCC-B8B0FC55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19775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B67B2"/>
                </a:solidFill>
                <a:latin typeface="Aptos"/>
                <a:ea typeface="Aptos"/>
                <a:cs typeface="Aptos"/>
              </a:rPr>
              <a:t>会话键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F11BDE0-3235-4A2A-A685-AA87BF7C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895850"/>
            <a:ext cx="9144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4E12B31-C80C-4EA7-A9D1-9246D323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981575"/>
            <a:ext cx="76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B67B2"/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F56AC88-A1FD-4BB9-B171-58818F61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657850"/>
            <a:ext cx="2095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2A0262F-0D18-4B78-98E4-9C944277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124450"/>
            <a:ext cx="2095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745096F-2806-4F67-819D-5EBBD3A7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48300"/>
            <a:ext cx="323850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11430">
            <a:solidFill>
              <a:srgbClr val="C98B2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C9A8FE9-4ACB-45F5-8538-3AE0ABF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48300"/>
            <a:ext cx="171450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11430">
            <a:solidFill>
              <a:srgbClr val="C98B2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4566C88-313C-41C1-B0A2-4764335D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448300"/>
            <a:ext cx="114300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41ED9A9-C4AE-4D70-A3B9-EE36B339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448300"/>
            <a:ext cx="57150" cy="20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11430">
            <a:solidFill>
              <a:srgbClr val="3B67B2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DCB2B33-795C-40DC-8BDE-33968F33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0C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D8E8A08-1043-445D-BF2F-69470996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图例：矩形=实体  椭圆=属性  菱形=联系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3314690-B134-4829-BD5B-B02AC293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019800"/>
            <a:ext cx="782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说明：为避免重叠，这里把陈氏 ER 图按业务关系拆成四个小图；用户A / 用户B 表示同一用户实体在私信场景中的两个角色。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549330F-CBAF-40E1-BECC-8CEC19B4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68968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EDE4B5-43BC-4052-9C2D-3CF91DB2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EB35C-CA86-4060-B72F-E6925B7C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52E6AA-6D62-4563-A6FA-07C5D0C3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FED999-A3A4-476B-A7BC-2AC65F94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CORE ENTITIES（核心实体）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D4081-71DE-4C1D-89FB-41BA9C24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核心实体表记录“对象本身”，关系表记录“对象之间如何连接”。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3FEF0-34F9-498F-85E5-C89CA45D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2D4C2-9699-4236-AAC0-CD34F6DB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B4789-2232-4A7B-BF0D-F8FA0251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240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C9F94-3612-4992-A441-AA3D9151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812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主键 / 关键字段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319D1-B186-4C1E-8067-31C18A30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24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E10D9-6921-4013-B71F-B678BF70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812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业务含义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9BF12-1E7B-42CC-83DC-2F05F4B1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A4A08-0403-4C34-BB5F-754FA976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812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约束重点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C12A1-8EB1-4F0C-AD54-FE421208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7F7A7-71CD-4024-8446-ADE302B2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USERS（用户）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64B77-0B5A-4317-AF17-E7090DB0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384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25B0F-DBB6-41DC-B1C0-BAA0F6CA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id；email（邮箱）；role（角色）；is_online（在线）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AF8D0-B072-4CA3-A07A-E2EE0852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43C50-CEF9-4674-ACFC-48449049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955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系统账号、资料、头像、在线状态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D3572-36ED-4171-86A8-6769BC4B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384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05CDA-A6BB-4864-ADAF-94396F27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955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email（邮箱）唯一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0CEC2-B1DF-4752-8138-74B75F5F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16A4F-2D8E-4B98-BBF7-ECCA91BC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CHANNEL_GROUPS（群组）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FD9C1-28BC-489F-B689-CD926902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527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8DFC1-F5FB-442D-9CD7-605F6B7A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099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id；owner_id（拥有者）；invite_code（邀请码）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C9931-48AE-4CD3-88D7-107B2FD7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F3F53-06CE-48D4-A84D-3B07BC7F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099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类似服务器/群组，是频道集合的容器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3C420-104B-420F-A6EF-E69C52E5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27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171DC7-8A55-4F41-B71A-B79ECC4A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invite_code（邀请码）唯一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A803C6-5995-43ED-8A6F-D666EA91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FF9259-6FB4-4B2D-A8F0-DE96BA1C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CHANNELS（频道）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A3B4BE-1956-4F74-B3B4-AA5544EA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F48A3C-A486-487B-B662-1C13A065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242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id；group_id（群组）；type（类型）；position（排序）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E0B228-348A-4242-A232-B6A6FE5C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67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024D72-DBC8-40B5-830D-D53A8484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242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文本频道或语音频道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A08C46-58CB-48D4-8F72-0663B9ED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671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47A34E-84C1-4A4A-B220-D2F99151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242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隶属于一个 Group（群组）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12AF38-D4FA-4238-AD4F-65B9EB85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6B5789-6355-469E-8329-A63AB77C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MESSAGES（消息）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059EDD-4DFF-4C0A-AB14-D09C15AD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BFCBD4-4203-4134-A671-393651B7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386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id；sender_id（发送者）；channel_id（频道）；content（内容）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E6C3D7-FE1D-4397-AB67-9F3790A6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15924A-D82C-4F91-A9B9-347A647E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386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频道聊天消息历史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D847A4-6043-4078-92CC-1C568ED6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814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FF30F0-E437-4D20-A416-B8EFC823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386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发送者与频道均为外键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7B4D20-CA48-4510-878E-A24B0972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BB4409-E8DA-4E4D-B055-68326D9F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GROUP_ROLES（群组角色）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E22DE6-B2C6-48B4-B842-C6E73518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958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AB1E65-4DCC-4412-8EC0-0D83AFCA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529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id；group_id（群组）；name（名称）；position（排序）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739090-0C58-4CD9-BB99-95C478C3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95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BA6C1B-2F6A-4798-98F7-B628593C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529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Group（群组）内身份组和权限排序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027C87-25EB-4A02-A167-3EE69802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958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94AB77-1981-4852-A2E3-18DE8539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529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同一 Group（群组）下定义角色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4CC3A6-CC0F-4E45-B823-4F3BAFD0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README（项目说明）说明：带 gorm.Model（GORM 模型基类）的表都包含 id、created_at、updated_at、deleted_at，其中 deleted_at（删除时间）用于软删除。</a:t>
            </a:r>
          </a:p>
        </p:txBody>
      </p:sp>
    </p:spTree>
    <p:extLst>
      <p:ext uri="{BB962C8B-B14F-4D97-AF65-F5344CB8AC3E}">
        <p14:creationId xmlns:p14="http://schemas.microsoft.com/office/powerpoint/2010/main" val="18438784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7C87A7-3F21-4E3F-8C57-BA260EDE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B943F-DE4C-479A-92DB-72BDD455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AC4CEF-E1A0-4809-974B-A02CBF78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F0E90BC-936F-412F-A0F1-BACC1DD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RELATIONAL SCHEMA（关系模式）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45A59-8B3A-49DB-9D78-715443B9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关系模式写法：先列属性，再明确主键、外键与唯一约束。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DDF90-E1C8-4348-BF32-FB5118E5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504AB-DB58-43B7-9FF1-593B5A22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E1D91-C74C-490B-B956-B6045F96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335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F199E-F8DF-4B5C-A787-05762FBB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属性结构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25C2F-0F03-4AB9-A80C-5CCA599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335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70557-7DAD-4F2D-9801-A33F73FA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907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关键约束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0B0AD-A6FE-4E08-B43B-D1177BC5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C8B2F-01B2-4C7A-BBB3-2DF06931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USERS（用户）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04ED7-5C4A-4553-A23B-67E4652D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490E3-D868-42C7-959D-69DE41D7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288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username（用户名）, email（邮箱）, password（密码）, avatar（头像）, avatar_url（头像地址）, role（角色）, bio（简介）, last_seen（最后在线）, is_online（在线）, ...)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3275D-B7A5-48F5-8737-F3FC99C7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66F85-A97C-44E3-A839-77CD81A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288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PK（主键）: id；UK（唯一键）: email（邮箱）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2B72A-0A2A-48AF-AE56-09028D34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E51AD-DCF3-4E06-B0F7-FA5F80E1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CHANNEL_GROUPS（群组）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8D728-B9BC-4B0A-AE97-38D6D516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98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6B86D-EAAA-40C6-9325-7D19C196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name（名称）, description（描述）, icon（图标）, owner_id（拥有者）, invite_code（邀请码）, ...)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CBEC9B-C603-4B5D-A8FF-3D43E2ED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098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3A896-89E8-47B3-A14C-60789106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PK（主键）: id；FK（外键）: owner_id（拥有者）；UK（唯一键）: invite_code（邀请码）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24A24-44A6-4BA4-B727-86523F94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485FB-A4BF-4877-8844-08BCD02C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CHANNELS（频道）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26CED-23F6-40A8-9E91-02D4C204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480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6B8F12-292A-444C-885D-D4E0755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name（名称）, type（类型）, description（描述）, group_id（群组）, position（排序）, created_by（创建者）, max_members（人数上限）, ...)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EB817-0FC2-47E6-8A0A-D258FDF7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91490-BA41-41E6-A766-2C015E17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PK（主键）: id；FK（外键）: group_id（群组）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61FB30-B835-4CE3-9EA8-44375BAC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E60E92-10D5-4BD3-A53D-1785FCF1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MESSAGES（消息）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CDF3FE-9017-4393-B4EF-5266C00F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861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900D55-7A62-4959-BEB7-AE5F7193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433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content（内容）, sender_id（发送者）, channel_id（频道）, created_at（创建时间）, updated_at（更新时间）, deleted_at（删除时间）)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6C4436-9C87-4ECC-A896-E42C574C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2E5666-99B2-4A81-9F21-25674AD1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43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PK（主键）: id；FK（外键）: sender_id（发送者）, channel_id（频道）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D84303-EBE2-439A-90D3-45DACD8E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34C2F5-19CD-41E1-9003-9061A4A1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GROUP_ROLES（群组角色）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25FA5F-5CB3-4B46-A8D8-CBAFF612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243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1CE7E7-0EEF-4920-8C70-C49D717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814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group_id（群组）, name（名称）, description（描述）, color（颜色）, position（排序）, is_default（默认）, is_system（系统）, ...)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3BDA8C-CC86-4EBC-905A-00746E1B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243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C8F17F-F0C3-4CAC-8231-DAA1FEDC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814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PK（主键）: id；FK（外键）: group_id（群组）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41BA78-34B6-46AD-A5EF-F27A231B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这里的省略号表示 GORM（Go ORM 框架）公共审计字段。讲解时重点不是背字段，而是说明每个外键把哪两个业务对象连起来。</a:t>
            </a:r>
          </a:p>
        </p:txBody>
      </p:sp>
    </p:spTree>
    <p:extLst>
      <p:ext uri="{BB962C8B-B14F-4D97-AF65-F5344CB8AC3E}">
        <p14:creationId xmlns:p14="http://schemas.microsoft.com/office/powerpoint/2010/main" val="12214718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0FE918-CE84-4DD8-8795-96C42021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85E95-FA10-4D20-A871-91361E70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F54CD6B-EE7F-45B6-A6F8-FAFEB123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2118038-14AA-42E2-B75F-7E450B80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GROUP + CHANNEL（群组与频道）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BDA09-88A1-4288-9AF1-DA670BAC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Group（群组）到频道是层级关系，用户加入 Group（群组）后再进入具体频道。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1B015-F3A0-4E7E-AEA8-A0F6DDBF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801E0-3138-436E-BBF2-ABB037BD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7C09D-BD93-452E-85B5-0AC1D36E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USERS（用户）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4AC00-38B3-4BDE-B1A6-484DE126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8127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username（用户名）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role（角色）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6C420-208A-49E7-AF3D-9880AF58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573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62CD2-E7E5-46A4-9DB4-15D2898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573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61D2C-99E1-4C52-94B9-D246282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2858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CHANNEL_GROUPS（群组）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60E5A-E2D9-4519-8407-423B4B33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571625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owner_id（拥有者）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invite_code（邀请码） UK（唯一键）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04BBB-DC00-4916-A8AF-D5414150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573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2EDB1-2739-4279-808F-143FBAC0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573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712C9-AC5B-4EED-A24B-27E5F884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858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CHANNELS（频道）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B34DD-64C0-4054-9E44-C717505D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57162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type（类型）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E2C09-ED28-4267-A665-AA89E313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3ADBF-8689-4DC7-9668-27FFB04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6E200-5472-4E98-BEA3-D6B1E486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1800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USER_GROUPS（用户群组）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302C8-E880-41A8-A643-07B00D4D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71875"/>
            <a:ext cx="1781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user_id（用户）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role（角色）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F9D73-40F8-4D6B-8770-133600DF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97A35-485B-4610-A025-E5A6AB1B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0C667-73EC-40DD-A111-8C90CDA7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86125"/>
            <a:ext cx="1800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USER_CHANNELS（用户频道）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AA19AD-F9B6-4DD3-A20E-4F963BE5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571875"/>
            <a:ext cx="1781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user_id（用户）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channel_id（频道） FK（外键）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BB5A0-B139-4733-B73D-B26F4502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50F691-454E-4241-BE65-807048CC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0D1E7-B5F5-478C-981B-37C77F98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GROUP_ROLES（群组角色）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109A80-7660-4BFF-9F66-459321A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8127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name（名称）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is_default（默认）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838AC0-1695-4FFD-A3BE-5E062B5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D7DCEB-82F3-4BC6-8EE3-AC6D1AFC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764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040CA3-8F57-4698-8F9C-B886D060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764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DD8728-813E-4CF6-8BF7-FF23459D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C13284-0C2F-46E5-8716-8056D1AD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A15F03-A9FD-494F-8120-D14BEB3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关系解读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8F985D-27BE-4635-B8FC-50CC298C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67325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USERS（用户）与 CHANNEL_GROUPS（群组）是多对多，因此拆成 USER_GROUPS（用户群组）；USERS（用户）与 CHANNELS（频道）的活跃状态也用 USER_CHANNELS（用户频道）表达。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FC6048-FDCA-4F33-9C97-1FEC79D1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0125"/>
            <a:ext cx="373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FE5F2F-B50A-454B-B805-0F9A1762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012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DA219A-D99C-4660-866D-45D035CF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43475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为什么不直接写在用户表？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7130D0-931A-4AFD-A03D-0CDF6E8C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67325"/>
            <a:ext cx="346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一个用户可加入多个 Group（群组）/频道；一个 Group（群组）/频道也有多个用户，直接存数组会破坏关系模型。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5FF98C-FA50-497D-9A23-2C7D8498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关系模式：USER_GROUPS（用户群组）(id, user_id, group_id, role, ...)，USER_CHANNELS（用户频道）(id, user_id, channel_id, ...)。</a:t>
            </a:r>
          </a:p>
        </p:txBody>
      </p:sp>
    </p:spTree>
    <p:extLst>
      <p:ext uri="{BB962C8B-B14F-4D97-AF65-F5344CB8AC3E}">
        <p14:creationId xmlns:p14="http://schemas.microsoft.com/office/powerpoint/2010/main" val="9486866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8D47E4-3E4C-478B-93EE-1C373BD4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E3D29-DAC0-4CE7-AF5A-B9C68469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94E6D4-7C29-49AA-94AA-C7E7A692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76CFABE-39B0-4774-AC91-1F614A3E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MESSAGE FLOW（消息流）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71A36-27FA-4A5C-84C9-3168C618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消息表把“谁发的、发到哪、发了什么”拆成清晰外键。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62850-3758-467D-9E00-FC6C4AEB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54CEC-93E2-4336-942A-9DAB430C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68353-E2E5-4C14-9E8F-4964E87C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USERS（用户）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CA0B4-DF72-4DB6-8A02-C2A447AF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86025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username（用户名）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avatar_url（头像地址）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C1A13-B6A6-4DDD-A9CE-22258B52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7E81A-902E-4682-B4AD-4F3FD693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537CB-C8AB-4B87-98C1-79FFE75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02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MESSAGES（消息）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8C24C-A991-423F-B3A2-FAB1DD03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86025"/>
            <a:ext cx="182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content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sender_id（发送者）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channel_id（频道） FK（外键）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70CF2-8CE5-4CB1-955A-B5428408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8B32E-607C-44D3-8570-7D78CF41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09D37-6462-410E-A481-6678969E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02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CHANNELS（频道）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808BE-5BEC-445B-AE8E-1B3D1741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86025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type=text（文本）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690AD-6AA1-4229-AC86-D29A5BA2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E25AF-7282-4F18-BD57-95C20DF0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F654B-2BAB-4693-8E36-9CE50800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sends（发送）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E026C-AED2-4507-8FF8-9FDE0CEF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belongs to（属于）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65D2B-3E92-4E03-AB95-2B45FE16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D0FED-BA2B-4FC3-88DB-4381D995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51B12-C2F5-497F-B66E-340DA233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落库优先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96D34-9FCF-4484-9EAC-0E30FDEB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频道消息和私信都先写入数据库，刷新后仍能恢复历史。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40B75-BF04-4332-BAB2-02CC17F1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E2CCC-D7E8-4EA9-9925-A4ED92C0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3F472-687D-4301-BD72-0146AE1A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实时推送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AB5CCE-06FB-4F5C-A905-A86367DB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写库后通过 WebSocket（实时长连接）推送；多实例下 Kafka/Redpanda（事件总线）做事件 fanout（广播分发）。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2EF2EE-6F4A-43F5-A28E-D3E481C7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8F02CB-3B3C-4A56-9D99-0B586DDC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F4EDA-5F6A-4F24-80C8-39136979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软删除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B778E7-9D02-44CD-866B-56BE7A01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撤回等场景依赖 deleted_at（删除时间），前端刷新后不会再展示已撤回消息。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24B1A3-7F33-4FCA-AE91-940E6BC7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055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频道消息关系模式：MESSAGES（消息）(id, content（内容）, sender_id（发送者）, channel_id（频道）, created_at（创建时间）, updated_at（更新时间）, deleted_at（删除时间）)。</a:t>
            </a:r>
          </a:p>
        </p:txBody>
      </p:sp>
    </p:spTree>
    <p:extLst>
      <p:ext uri="{BB962C8B-B14F-4D97-AF65-F5344CB8AC3E}">
        <p14:creationId xmlns:p14="http://schemas.microsoft.com/office/powerpoint/2010/main" val="1733002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EED11B-3865-4779-B84F-C777E7E4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75ADD-E03C-4443-82DF-12AF74C1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3C14C2-5D20-4510-95ED-8B684467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06586B4-4A13-4D51-829A-BFA2B7AA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FRIENDS + DM（好友与私信）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57AE5-D83B-4CC7-89B4-A7C5C4FB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好友与私信分开建模：关系状态不等于聊天会话。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774EA-FCDF-43E7-BB08-EF7D1B81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E7F8E-E097-4270-B0A3-6BD91E2E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D2EAF-8072-43D9-B32D-CBE855D4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954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8EFC5-45C2-4A73-BB39-BEE09F1F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526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属性结构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1243D-22D6-4166-9224-2BA0FAA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954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781C5-949E-4FF4-92AC-7BC9F371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0E7A5-3170-475B-8288-82A9BBE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C7D0D-86A1-4188-83A2-8E0C9D33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FRIEND_REQUESTS（好友申请）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C1FA4-C6CA-4BF3-B00C-64BD3D40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336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FF36D-D8CD-4BF3-84B5-37F78B6E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907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requester_id（申请人）, addressee_id（接收人）, status（状态）, message（附言）, ...)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0C127-BB41-4320-B9F9-9FDDAC0E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18310-803B-4D08-A2E5-1E45326B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申请中的关系状态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DE75A-3753-459A-B17C-4705F317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96D77-6984-4474-B3F1-F0538E47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FRIENDSHIPS（好友关系）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4E2E6-56EF-4C8C-9600-616895B0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717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1A07C-5814-46B6-A253-31A1A641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289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user_id（用户）, friend_id（好友）, ...)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D2A82-CE9B-492C-B8E4-6EC7D06D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41EE1-1982-44E9-B4EB-B2C3F157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已建立好友关系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75E93-4628-4223-BD13-3958FEBF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02EE0-3A94-4AD6-A101-BDD96676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DIRECT_CONVERSATIONS（私信会话）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E9D60-F3E1-47BD-858E-864FA88A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099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A1A283-9236-43C7-B7F1-6AB5A893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670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pair_key（会话唯一键）, last_message_at（最后消息时间）, ...)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057ED5-0922-406D-878A-EE2E144E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99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45AC18-DC61-4A0C-AFDC-35E78867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670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两人私信会话，pair_key（会话唯一键）唯一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F47D15-EC03-4291-A0B0-E32C703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B7F83-5465-48FE-81B3-B61D38C7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DIRECT_CONVERSATION_MEMBERS（会话成员）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5C90F4-8E51-4878-A7BD-2C56085B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480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15A66-E38E-4EC6-B23C-1620460A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5052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direct_conversation_id（会话）, user_id（用户）, ...)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01072B-B050-45BD-AC12-55932EE6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80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9BDB85-B851-4E9F-8CB1-3B2BC639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会话成员中间表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44540B-AE14-4C25-A936-4CCCB42E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011BB0-255E-48B8-B539-94CABE15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DIRECT_MESSAGES（私信消息）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CAF6E9-7E33-4887-8D5A-BE42566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862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892AB4-DE89-437D-944B-FA08701B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433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conversation_id（会话）, sender_id（发送者）, content（内容）, ...)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BF48CB-5C70-4EAD-BD7D-C70EB33F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BEDE41-B10C-42B8-8F10-276D242E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433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私信消息历史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DFA6EA-D3DE-4219-B64C-27CDC899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0C40AD-CAED-4C61-A7E0-4F56FE2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2FC885-7B0B-4DFE-AC01-DA0B2DAF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38725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为什么会话要有 pair_key（会话唯一键）？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EC7C15-1CE1-45DC-8256-4BD97A99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62575"/>
            <a:ext cx="401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同一对用户只能对应一个双人会话，避免 A-B 与 B-A 被创建成两条不同会话。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D10C2F-8DC3-42DB-8DE4-FEEA35B9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05375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25E0F-A3F3-4F57-8418-82E4F290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053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2F5C52-6D00-49C6-A357-BF98C5E7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38725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为什么好友请求不直接变好友？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86CCF7-E5B4-4366-BF25-34BEEDBB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6257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申请、接受、拒绝是状态机；FRIEND_REQUESTS 保存过程，FRIENDSHIPS 保存结果。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60E18C-8808-4975-8FEA-8FEC75D1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847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README（项目说明）中还提到：系统允许非好友私信，同时用提示提醒关系状态，因此会话模型和好友模型必须解耦。</a:t>
            </a:r>
          </a:p>
        </p:txBody>
      </p:sp>
    </p:spTree>
    <p:extLst>
      <p:ext uri="{BB962C8B-B14F-4D97-AF65-F5344CB8AC3E}">
        <p14:creationId xmlns:p14="http://schemas.microsoft.com/office/powerpoint/2010/main" val="8066429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FD0A9-B628-4681-9895-81196644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8F363-9288-4817-B437-59B49317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3E6661-AFF5-4B09-B44C-EB86E9A9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1E4BFE9-4A8F-4DED-9BA7-48A29FA1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CONSTRAINTS（约束）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0BBC7-D127-445D-AF6E-C056B4C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约束设计的目标：保证身份唯一、层级清楚、消息可追溯。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97F20-194B-4BA4-9779-532E8C84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7C7F0-E713-4476-AB53-ED41F57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约束类型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CE728-34B9-4350-B53F-5898CAE4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3C191-95E1-42E5-9BE9-4ED6B26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66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出现位置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E7983-D2FD-4964-B576-84E52910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097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6C80D-4E77-4DD7-ACA3-C3289043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669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设计作用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45724-AD15-464B-9D74-9FDE6E4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CC3D4-92E2-4FFB-A79F-FD1968B4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主键 PK（主键）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2F979-4399-4AE7-9612-C0AAF769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050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E02D0-304B-42BE-A225-0CBDCD27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62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所有主业务表 id（编号）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1F62D-8C80-4EB4-8E50-7CEAF799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050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52617-C120-42A6-A5A0-A988DF89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622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每条记录都有稳定身份，便于外键引用和软删除。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C8D55-09E2-420C-B615-C2611E49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E6FD1-A113-4BDB-AB56-EC4C63C5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唯一 UK（唯一键）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0139C-DF9A-4674-8583-594B6768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46BA2-B81D-459F-A89C-0680430C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USERS（用户）.email（邮箱）；CHANNEL_GROUPS（群组）.invite_code（邀请码）；DIRECT_CONVERSATIONS（私信会话）.pair_key（会话唯一键）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287DB-6750-43DD-93DC-A6294948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003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ABFE4-32D0-4CCB-B9A1-39419556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575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防止重复账号、重复邀请码和重复双人会话。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1758F-3EE4-4A31-94CC-6C9F9E99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980EE-1A17-4608-99D2-31EEAE0D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外键 FK（外键）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4A28F-03FB-4496-9796-17FD75D4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95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57F1E1-4618-4F0B-A9C0-E82DE224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52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owner_id（拥有者）、group_id（群组）、sender_id（发送者）、channel_id（频道）、conversation_id（会话）等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9381C4-03FB-4672-9EC4-2CBDC562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956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C99A5A-C130-4E63-97DB-1C7E4E74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528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让对象关系可追踪，避免孤立消息或无归属频道。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4062B-0678-4699-8432-140A2209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0C570-7BB3-44D1-AE8C-DCC18946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中间表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D168B9-FBD7-42B9-8B43-898D36E8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909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B45BEC-123F-46C5-910D-0EFBEE2C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481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USER_GROUPS（用户群组）、USER_CHANNELS（用户频道）、DIRECT_CONVERSATION_MEMBERS（会话成员）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7A3333-85FA-4AEA-8384-17F9492A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909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A80A3F-9909-42AB-9A22-415FDCFC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481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表达多对多或当前参与关系，避免在单表存数组。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24A53C-745B-4CBB-8327-8E9396B4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60E069-77EE-416B-B189-02A35239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软删除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F03914-C957-4895-862E-A46A4632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862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C5A41F-043C-4CDB-A891-A38808FD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434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deleted_at（删除时间）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C2ED90-EB67-4EFE-BBCE-EDA84690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CAD545-9BEA-4135-9163-B276B33A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434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撤回、删除、恢复和审计更自然，不破坏历史引用。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9A5BF6-0352-41AE-8651-1807301E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范式角度：实体属性放在实体表，关系属性放在关系表；例如 User（用户）在 Group（群组）中的 role（角色）属于 USER_GROUPS（用户群组），而不是 USERS（用户）。</a:t>
            </a:r>
          </a:p>
        </p:txBody>
      </p:sp>
    </p:spTree>
    <p:extLst>
      <p:ext uri="{BB962C8B-B14F-4D97-AF65-F5344CB8AC3E}">
        <p14:creationId xmlns:p14="http://schemas.microsoft.com/office/powerpoint/2010/main" val="151460678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B351C-547E-4B83-B67F-93582F85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04AE7-4764-4238-AF85-B707D84A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A245AB7-D52B-47DE-8A9C-CB453E56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891DB2-147E-4BD0-9309-8C71E92E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SUMMARY（总结）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03D0C-3158-4026-A5E3-E301C54F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最终关系模式支撑了可扩展、可演示、可运维的实时社区骨架。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5B21F-A92E-4618-A401-CC576482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29043-7AE0-42AE-BC61-EA270E8D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E729F-7863-4794-B99E-E9208DD7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1. User（用户）是中心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AB12E-EBCD-4B2D-84B6-8615E999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拥有 Group（群组）、发送消息、加入频道、发起好友申请、参与私信会话。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6D69C-E433-4F28-A797-74234BC4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35ADD-5E97-4016-A74B-E423E25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FCDA8-BEC7-4BCD-ABBB-558A9800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2. Group（群组）是容器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5C6E1-8543-4894-A2AD-3365A213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Group（群组）包含频道、成员、身份组；频道承载文本或语音场景。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7D297-919E-4250-88BA-FB16E59B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41CD3-3923-4FFF-909D-CB11B4C0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6D974-FC68-422B-BC5E-0F7AACC4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3. Message（消息）是流水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73BD5-38B7-40D7-9BB2-6A9F5D5A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消息通过 sender_id（发送者）与 channel/conversation（频道/会话）关联，适合历史分页和实时同步。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3E746-DF69-42C0-914B-0DE32EF4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86200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52303-B28C-499F-B4A5-09114B24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86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906AB-B797-429E-A37F-FE4E15BC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955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4. Relation（关系）用中间表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335E4-789E-48EC-A407-89F3D713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用户-群组、用户-频道、用户-会话成员关系都独立建表，结构更清楚。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01747-22CA-4DFF-AF1B-0DCBDFB4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B5FD6B-6522-4ABA-92D7-51AF688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F7573-B6F8-4022-B022-3E7A25EF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5. Constraint（约束）保证一致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34FDD-6213-461D-BED2-50CCC8C4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43400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PK（主键）、FK（外键）、UK（唯一键）、deleted_at（删除时间）共同保证数据可定位、可引用、可恢复。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AC704-4565-4AA5-9F57-20C1A9CF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86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一句话记忆：这个 ER 图不是“聊天消息表”的扩展，而是围绕用户、群组、频道、好友和私信会话组织起来的实时社区数据模型。</a:t>
            </a:r>
          </a:p>
        </p:txBody>
      </p:sp>
    </p:spTree>
    <p:extLst>
      <p:ext uri="{BB962C8B-B14F-4D97-AF65-F5344CB8AC3E}">
        <p14:creationId xmlns:p14="http://schemas.microsoft.com/office/powerpoint/2010/main" val="318793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2026-06-04T08:51:01.9060000Z</dcterms:created>
  <dcterms:modified xsi:type="dcterms:W3CDTF">2026-06-04T08:51:01.9060000Z</dcterms:modified>
</coreProperties>
</file>